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20"/>
  </p:notesMasterIdLst>
  <p:sldIdLst>
    <p:sldId id="292" r:id="rId5"/>
    <p:sldId id="257" r:id="rId6"/>
    <p:sldId id="343" r:id="rId7"/>
    <p:sldId id="355" r:id="rId8"/>
    <p:sldId id="344" r:id="rId9"/>
    <p:sldId id="353" r:id="rId10"/>
    <p:sldId id="345" r:id="rId11"/>
    <p:sldId id="346" r:id="rId12"/>
    <p:sldId id="354" r:id="rId13"/>
    <p:sldId id="356" r:id="rId14"/>
    <p:sldId id="348" r:id="rId15"/>
    <p:sldId id="351" r:id="rId16"/>
    <p:sldId id="349" r:id="rId17"/>
    <p:sldId id="350" r:id="rId18"/>
    <p:sldId id="342"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40" userDrawn="1">
          <p15:clr>
            <a:srgbClr val="A4A3A4"/>
          </p15:clr>
        </p15:guide>
        <p15:guide id="2" pos="144"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47"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1910"/>
    <a:srgbClr val="223366"/>
    <a:srgbClr val="0000FF"/>
    <a:srgbClr val="0000A8"/>
    <a:srgbClr val="FFD5D5"/>
    <a:srgbClr val="DDE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0BD6FD-977E-ACBD-820E-9ED0D1C8B935}" v="1" dt="2024-01-29T06:26:59.3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2680" autoAdjust="0"/>
  </p:normalViewPr>
  <p:slideViewPr>
    <p:cSldViewPr snapToGrid="0">
      <p:cViewPr varScale="1">
        <p:scale>
          <a:sx n="101" d="100"/>
          <a:sy n="101" d="100"/>
        </p:scale>
        <p:origin x="950" y="67"/>
      </p:cViewPr>
      <p:guideLst>
        <p:guide orient="horz" pos="540"/>
        <p:guide pos="144"/>
      </p:guideLst>
    </p:cSldViewPr>
  </p:slideViewPr>
  <p:notesTextViewPr>
    <p:cViewPr>
      <p:scale>
        <a:sx n="1" d="1"/>
        <a:sy n="1" d="1"/>
      </p:scale>
      <p:origin x="0" y="0"/>
    </p:cViewPr>
  </p:notesTextViewPr>
  <p:sorterViewPr>
    <p:cViewPr>
      <p:scale>
        <a:sx n="100" d="100"/>
        <a:sy n="100" d="100"/>
      </p:scale>
      <p:origin x="0" y="-2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51" Type="http://schemas.openxmlformats.org/officeDocument/2006/relationships/tableStyles" Target="tableStyles.xml"/><Relationship Id="rId3" Type="http://schemas.openxmlformats.org/officeDocument/2006/relationships/customXml" Target="../customXml/item3.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4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a:latin typeface="Calibri"/>
              <a:cs typeface="Calibri"/>
            </a:endParaRPr>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9441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64861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80436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noRot="1" noChangeAspect="1"/>
          </p:cNvSpPr>
          <p:nvPr>
            <p:ph type="sldImg"/>
          </p:nvPr>
        </p:nvSpPr>
        <p:spPr>
          <a:xfrm>
            <a:off x="685800" y="1143000"/>
            <a:ext cx="5486400" cy="3086100"/>
          </a:xfrm>
          <a:prstGeom prst="rect">
            <a:avLst/>
          </a:prstGeom>
        </p:spPr>
      </p:sp>
      <p:sp>
        <p:nvSpPr>
          <p:cNvPr id="380" name="PlaceHolder 2"/>
          <p:cNvSpPr>
            <a:spLocks noGrp="1"/>
          </p:cNvSpPr>
          <p:nvPr>
            <p:ph type="body"/>
          </p:nvPr>
        </p:nvSpPr>
        <p:spPr>
          <a:xfrm>
            <a:off x="685800" y="4400640"/>
            <a:ext cx="5486040" cy="3600000"/>
          </a:xfrm>
          <a:prstGeom prst="rect">
            <a:avLst/>
          </a:prstGeom>
        </p:spPr>
        <p:txBody>
          <a:bodyPr>
            <a:noAutofit/>
          </a:bodyPr>
          <a:lstStyle/>
          <a:p>
            <a:pPr>
              <a:lnSpc>
                <a:spcPct val="100000"/>
              </a:lnSpc>
              <a:tabLst>
                <a:tab pos="0" algn="l"/>
              </a:tabLst>
            </a:pPr>
            <a:endParaRPr lang="en-US" sz="2000" b="0" strike="noStrike" spc="-1">
              <a:latin typeface="Arial"/>
            </a:endParaRPr>
          </a:p>
        </p:txBody>
      </p:sp>
      <p:sp>
        <p:nvSpPr>
          <p:cNvPr id="381" name="TextShape 3"/>
          <p:cNvSpPr txBox="1"/>
          <p:nvPr/>
        </p:nvSpPr>
        <p:spPr>
          <a:xfrm>
            <a:off x="3884760" y="8685360"/>
            <a:ext cx="2971440" cy="458280"/>
          </a:xfrm>
          <a:prstGeom prst="rect">
            <a:avLst/>
          </a:prstGeom>
          <a:noFill/>
          <a:ln w="0">
            <a:noFill/>
          </a:ln>
        </p:spPr>
        <p:txBody>
          <a:bodyPr anchor="b">
            <a:noAutofit/>
          </a:bodyPr>
          <a:lstStyle/>
          <a:p>
            <a:pPr algn="r">
              <a:lnSpc>
                <a:spcPct val="100000"/>
              </a:lnSpc>
            </a:pPr>
            <a:fld id="{E9D2A155-03D1-406C-89CB-ED7F9F0CCA44}" type="slidenum">
              <a:rPr lang="en-IN" sz="1200" b="0" strike="noStrike" spc="-1">
                <a:latin typeface="Times New Roman"/>
              </a:rPr>
              <a:t>15</a:t>
            </a:fld>
            <a:endParaRPr lang="en-US" sz="1200" b="0" strike="noStrike" spc="-1">
              <a:latin typeface="Times New Roman"/>
            </a:endParaRPr>
          </a:p>
        </p:txBody>
      </p:sp>
    </p:spTree>
    <p:extLst>
      <p:ext uri="{BB962C8B-B14F-4D97-AF65-F5344CB8AC3E}">
        <p14:creationId xmlns:p14="http://schemas.microsoft.com/office/powerpoint/2010/main" val="1353140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userDrawn="1">
  <p:cSld name="TITLE_AND_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189" lvl="0" indent="-317492" algn="l">
              <a:lnSpc>
                <a:spcPct val="115000"/>
              </a:lnSpc>
              <a:spcBef>
                <a:spcPts val="0"/>
              </a:spcBef>
              <a:spcAft>
                <a:spcPts val="0"/>
              </a:spcAft>
              <a:buSzPts val="1400"/>
              <a:buChar char="●"/>
              <a:defRPr sz="14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23" name="Google Shape;23;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189" lvl="0" indent="-317492" algn="l">
              <a:lnSpc>
                <a:spcPct val="115000"/>
              </a:lnSpc>
              <a:spcBef>
                <a:spcPts val="0"/>
              </a:spcBef>
              <a:spcAft>
                <a:spcPts val="0"/>
              </a:spcAft>
              <a:buSzPts val="1400"/>
              <a:buChar char="●"/>
              <a:defRPr sz="14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189" lvl="0" indent="-304793" algn="l">
              <a:lnSpc>
                <a:spcPct val="115000"/>
              </a:lnSpc>
              <a:spcBef>
                <a:spcPts val="0"/>
              </a:spcBef>
              <a:spcAft>
                <a:spcPts val="0"/>
              </a:spcAft>
              <a:buSzPts val="1200"/>
              <a:buChar char="●"/>
              <a:defRPr sz="12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189" lvl="0" indent="-228594" algn="l">
              <a:lnSpc>
                <a:spcPct val="100000"/>
              </a:lnSpc>
              <a:spcBef>
                <a:spcPts val="0"/>
              </a:spcBef>
              <a:spcAft>
                <a:spcPts val="0"/>
              </a:spcAft>
              <a:buSzPts val="1800"/>
              <a:buNone/>
              <a:defRPr/>
            </a:lvl1pPr>
          </a:lstStyle>
          <a:p>
            <a:endParaRPr/>
          </a:p>
        </p:txBody>
      </p:sp>
      <p:sp>
        <p:nvSpPr>
          <p:cNvPr id="43" name="Google Shape;43;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28560" y="273780"/>
            <a:ext cx="7886430" cy="993870"/>
          </a:xfrm>
          <a:prstGeom prst="rect">
            <a:avLst/>
          </a:prstGeom>
        </p:spPr>
        <p:txBody>
          <a:bodyPr lIns="0" tIns="0" rIns="0" bIns="0" anchor="ctr">
            <a:noAutofit/>
          </a:bodyPr>
          <a:lstStyle/>
          <a:p>
            <a:endParaRPr lang="en-US" sz="1350" b="0" strike="noStrike" spc="-1">
              <a:solidFill>
                <a:srgbClr val="000000"/>
              </a:solidFill>
              <a:latin typeface="Calibri"/>
            </a:endParaRPr>
          </a:p>
        </p:txBody>
      </p:sp>
      <p:sp>
        <p:nvSpPr>
          <p:cNvPr id="9" name="PlaceHolder 2"/>
          <p:cNvSpPr>
            <a:spLocks noGrp="1"/>
          </p:cNvSpPr>
          <p:nvPr>
            <p:ph type="subTitle"/>
          </p:nvPr>
        </p:nvSpPr>
        <p:spPr>
          <a:xfrm>
            <a:off x="457110" y="1203390"/>
            <a:ext cx="8229330" cy="2982960"/>
          </a:xfrm>
          <a:prstGeom prst="rect">
            <a:avLst/>
          </a:prstGeom>
        </p:spPr>
        <p:txBody>
          <a:bodyPr lIns="0" tIns="0" rIns="0" bIns="0" anchor="ctr">
            <a:noAutofit/>
          </a:bodyPr>
          <a:lstStyle/>
          <a:p>
            <a:pPr algn="ctr"/>
            <a:endParaRPr lang="en-US" sz="2400" b="0" strike="noStrike" spc="-1">
              <a:latin typeface="Arial"/>
            </a:endParaRPr>
          </a:p>
        </p:txBody>
      </p:sp>
    </p:spTree>
    <p:extLst>
      <p:ext uri="{BB962C8B-B14F-4D97-AF65-F5344CB8AC3E}">
        <p14:creationId xmlns:p14="http://schemas.microsoft.com/office/powerpoint/2010/main" val="536418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5" name="Google Shape;110;p4" descr="A close up of a sign&#10;&#10;Description automatically generated">
            <a:extLst>
              <a:ext uri="{FF2B5EF4-FFF2-40B4-BE49-F238E27FC236}">
                <a16:creationId xmlns:a16="http://schemas.microsoft.com/office/drawing/2014/main" id="{4D797CE1-B3BC-05B3-7EFB-77E24CA99EC4}"/>
              </a:ext>
            </a:extLst>
          </p:cNvPr>
          <p:cNvPicPr preferRelativeResize="0"/>
          <p:nvPr userDrawn="1"/>
        </p:nvPicPr>
        <p:blipFill rotWithShape="1">
          <a:blip r:embed="rId13">
            <a:alphaModFix/>
          </a:blip>
          <a:srcRect/>
          <a:stretch/>
        </p:blipFill>
        <p:spPr>
          <a:xfrm>
            <a:off x="5890576" y="50164"/>
            <a:ext cx="1226897" cy="410144"/>
          </a:xfrm>
          <a:prstGeom prst="rect">
            <a:avLst/>
          </a:prstGeom>
          <a:noFill/>
          <a:ln>
            <a:noFill/>
          </a:ln>
        </p:spPr>
      </p:pic>
      <p:pic>
        <p:nvPicPr>
          <p:cNvPr id="6" name="Picture 5">
            <a:extLst>
              <a:ext uri="{FF2B5EF4-FFF2-40B4-BE49-F238E27FC236}">
                <a16:creationId xmlns:a16="http://schemas.microsoft.com/office/drawing/2014/main" id="{63FDEA9A-3289-7724-A041-81BA7412446D}"/>
              </a:ext>
            </a:extLst>
          </p:cNvPr>
          <p:cNvPicPr>
            <a:picLocks noChangeAspect="1"/>
          </p:cNvPicPr>
          <p:nvPr userDrawn="1"/>
        </p:nvPicPr>
        <p:blipFill>
          <a:blip r:embed="rId14"/>
          <a:stretch>
            <a:fillRect/>
          </a:stretch>
        </p:blipFill>
        <p:spPr>
          <a:xfrm>
            <a:off x="8588173" y="44451"/>
            <a:ext cx="430886" cy="421570"/>
          </a:xfrm>
          <a:prstGeom prst="rect">
            <a:avLst/>
          </a:prstGeom>
        </p:spPr>
      </p:pic>
      <p:pic>
        <p:nvPicPr>
          <p:cNvPr id="7" name="Picture 6">
            <a:extLst>
              <a:ext uri="{FF2B5EF4-FFF2-40B4-BE49-F238E27FC236}">
                <a16:creationId xmlns:a16="http://schemas.microsoft.com/office/drawing/2014/main" id="{4FE9B430-F1A6-D15F-5325-A6ECC80544A3}"/>
              </a:ext>
            </a:extLst>
          </p:cNvPr>
          <p:cNvPicPr>
            <a:picLocks noChangeAspect="1"/>
          </p:cNvPicPr>
          <p:nvPr userDrawn="1"/>
        </p:nvPicPr>
        <p:blipFill>
          <a:blip r:embed="rId15"/>
          <a:stretch>
            <a:fillRect/>
          </a:stretch>
        </p:blipFill>
        <p:spPr>
          <a:xfrm>
            <a:off x="7448295" y="54435"/>
            <a:ext cx="606402" cy="401602"/>
          </a:xfrm>
          <a:prstGeom prst="rect">
            <a:avLst/>
          </a:prstGeom>
        </p:spPr>
      </p:pic>
      <p:cxnSp>
        <p:nvCxnSpPr>
          <p:cNvPr id="11" name="Straight Connector 10">
            <a:extLst>
              <a:ext uri="{FF2B5EF4-FFF2-40B4-BE49-F238E27FC236}">
                <a16:creationId xmlns:a16="http://schemas.microsoft.com/office/drawing/2014/main" id="{3A16F5E0-5700-9B75-900A-DACA5FE2B975}"/>
              </a:ext>
            </a:extLst>
          </p:cNvPr>
          <p:cNvCxnSpPr/>
          <p:nvPr userDrawn="1"/>
        </p:nvCxnSpPr>
        <p:spPr>
          <a:xfrm>
            <a:off x="7272997" y="44451"/>
            <a:ext cx="0" cy="411586"/>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4B73529-812D-C430-F6D0-F29A1FE550F2}"/>
              </a:ext>
            </a:extLst>
          </p:cNvPr>
          <p:cNvCxnSpPr/>
          <p:nvPr userDrawn="1"/>
        </p:nvCxnSpPr>
        <p:spPr>
          <a:xfrm>
            <a:off x="8328077" y="44451"/>
            <a:ext cx="0" cy="411586"/>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cSld>
  <p:clrMap bg1="lt1" tx1="dk1" bg2="dk2" tx2="lt2" accent1="accent1" accent2="accent2" accent3="accent3" accent4="accent4" accent5="accent5" accent6="accent6" hlink="hlink" folHlink="folHlink"/>
  <p:sldLayoutIdLst>
    <p:sldLayoutId id="2147483666" r:id="rId1"/>
    <p:sldLayoutId id="2147483667" r:id="rId2"/>
    <p:sldLayoutId id="2147483652" r:id="rId3"/>
    <p:sldLayoutId id="2147483653" r:id="rId4"/>
    <p:sldLayoutId id="2147483654" r:id="rId5"/>
    <p:sldLayoutId id="2147483668" r:id="rId6"/>
    <p:sldLayoutId id="2147483669" r:id="rId7"/>
    <p:sldLayoutId id="2147483670" r:id="rId8"/>
    <p:sldLayoutId id="2147483657" r:id="rId9"/>
    <p:sldLayoutId id="2147483659" r:id="rId10"/>
    <p:sldLayoutId id="214748367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hyperlink" Target="https://drive.google.com/file/d/1XldNbgbz1bPaGwnlpd7p-sjpg3BL_jNb/view?usp=drivesdk"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07EE478-C686-BEE8-D55A-706CA7E7474C}"/>
              </a:ext>
            </a:extLst>
          </p:cNvPr>
          <p:cNvPicPr>
            <a:picLocks noChangeAspect="1"/>
          </p:cNvPicPr>
          <p:nvPr/>
        </p:nvPicPr>
        <p:blipFill>
          <a:blip r:embed="rId3"/>
          <a:srcRect l="5562" r="5562"/>
          <a:stretch/>
        </p:blipFill>
        <p:spPr>
          <a:xfrm>
            <a:off x="1426" y="1843"/>
            <a:ext cx="9142574" cy="5143500"/>
          </a:xfrm>
          <a:prstGeom prst="rect">
            <a:avLst/>
          </a:prstGeom>
        </p:spPr>
      </p:pic>
      <p:sp>
        <p:nvSpPr>
          <p:cNvPr id="10" name="TextShape 1">
            <a:extLst>
              <a:ext uri="{FF2B5EF4-FFF2-40B4-BE49-F238E27FC236}">
                <a16:creationId xmlns:a16="http://schemas.microsoft.com/office/drawing/2014/main" id="{813F2107-8C2D-9CA4-CD8E-ECCCD7EBECC8}"/>
              </a:ext>
            </a:extLst>
          </p:cNvPr>
          <p:cNvSpPr txBox="1"/>
          <p:nvPr/>
        </p:nvSpPr>
        <p:spPr>
          <a:xfrm>
            <a:off x="1086216" y="2675096"/>
            <a:ext cx="6191965" cy="425509"/>
          </a:xfrm>
          <a:prstGeom prst="rect">
            <a:avLst/>
          </a:prstGeom>
          <a:noFill/>
          <a:ln w="0">
            <a:noFill/>
          </a:ln>
        </p:spPr>
        <p:txBody>
          <a:bodyPr lIns="68580" tIns="34290" rIns="68580" bIns="34290" anchor="b">
            <a:noAutofit/>
          </a:bodyPr>
          <a:lstStyle/>
          <a:p>
            <a:pPr algn="ctr">
              <a:lnSpc>
                <a:spcPct val="90000"/>
              </a:lnSpc>
            </a:pPr>
            <a:endParaRPr lang="en-US" sz="2500" spc="-1" dirty="0">
              <a:solidFill>
                <a:schemeClr val="tx2"/>
              </a:solidFill>
              <a:latin typeface="Calibri"/>
            </a:endParaRPr>
          </a:p>
          <a:p>
            <a:pPr algn="ctr">
              <a:lnSpc>
                <a:spcPct val="90000"/>
              </a:lnSpc>
            </a:pPr>
            <a:r>
              <a:rPr lang="en-US" sz="2500" spc="-1" dirty="0">
                <a:solidFill>
                  <a:schemeClr val="bg1"/>
                </a:solidFill>
                <a:latin typeface="Calibri"/>
              </a:rPr>
              <a:t>Team ID – CU_CP_Team_10170</a:t>
            </a:r>
          </a:p>
        </p:txBody>
      </p:sp>
      <p:sp>
        <p:nvSpPr>
          <p:cNvPr id="16" name="Rectangle 15">
            <a:extLst>
              <a:ext uri="{FF2B5EF4-FFF2-40B4-BE49-F238E27FC236}">
                <a16:creationId xmlns:a16="http://schemas.microsoft.com/office/drawing/2014/main" id="{5560471F-132C-DC05-DF57-C57BF5F94F99}"/>
              </a:ext>
            </a:extLst>
          </p:cNvPr>
          <p:cNvSpPr/>
          <p:nvPr/>
        </p:nvSpPr>
        <p:spPr>
          <a:xfrm>
            <a:off x="538197" y="759096"/>
            <a:ext cx="2988527" cy="871317"/>
          </a:xfrm>
          <a:prstGeom prst="rect">
            <a:avLst/>
          </a:prstGeom>
          <a:solidFill>
            <a:schemeClr val="bg1"/>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oogle Shape;110;p4" descr="A close up of a sign&#10;&#10;Description automatically generated">
            <a:extLst>
              <a:ext uri="{FF2B5EF4-FFF2-40B4-BE49-F238E27FC236}">
                <a16:creationId xmlns:a16="http://schemas.microsoft.com/office/drawing/2014/main" id="{7F1DD211-B5CE-B07E-185D-B2D660A88249}"/>
              </a:ext>
            </a:extLst>
          </p:cNvPr>
          <p:cNvPicPr preferRelativeResize="0"/>
          <p:nvPr/>
        </p:nvPicPr>
        <p:blipFill rotWithShape="1">
          <a:blip r:embed="rId4">
            <a:alphaModFix/>
          </a:blip>
          <a:srcRect/>
          <a:stretch/>
        </p:blipFill>
        <p:spPr>
          <a:xfrm>
            <a:off x="660661" y="1082394"/>
            <a:ext cx="1050529" cy="294230"/>
          </a:xfrm>
          <a:prstGeom prst="rect">
            <a:avLst/>
          </a:prstGeom>
          <a:noFill/>
          <a:ln>
            <a:noFill/>
          </a:ln>
        </p:spPr>
      </p:pic>
      <p:pic>
        <p:nvPicPr>
          <p:cNvPr id="7" name="Picture 6">
            <a:extLst>
              <a:ext uri="{FF2B5EF4-FFF2-40B4-BE49-F238E27FC236}">
                <a16:creationId xmlns:a16="http://schemas.microsoft.com/office/drawing/2014/main" id="{4E9B16EB-4021-3DAD-87D7-8AADDA33F175}"/>
              </a:ext>
            </a:extLst>
          </p:cNvPr>
          <p:cNvPicPr>
            <a:picLocks noChangeAspect="1"/>
          </p:cNvPicPr>
          <p:nvPr/>
        </p:nvPicPr>
        <p:blipFill>
          <a:blip r:embed="rId5"/>
          <a:stretch>
            <a:fillRect/>
          </a:stretch>
        </p:blipFill>
        <p:spPr>
          <a:xfrm>
            <a:off x="2872434" y="957026"/>
            <a:ext cx="485958" cy="475451"/>
          </a:xfrm>
          <a:prstGeom prst="rect">
            <a:avLst/>
          </a:prstGeom>
        </p:spPr>
      </p:pic>
      <p:pic>
        <p:nvPicPr>
          <p:cNvPr id="9" name="Picture 8">
            <a:extLst>
              <a:ext uri="{FF2B5EF4-FFF2-40B4-BE49-F238E27FC236}">
                <a16:creationId xmlns:a16="http://schemas.microsoft.com/office/drawing/2014/main" id="{600553CE-6B63-17CC-854E-76FF40B12CCD}"/>
              </a:ext>
            </a:extLst>
          </p:cNvPr>
          <p:cNvPicPr>
            <a:picLocks noChangeAspect="1"/>
          </p:cNvPicPr>
          <p:nvPr/>
        </p:nvPicPr>
        <p:blipFill>
          <a:blip r:embed="rId6"/>
          <a:stretch>
            <a:fillRect/>
          </a:stretch>
        </p:blipFill>
        <p:spPr>
          <a:xfrm>
            <a:off x="1948326" y="996314"/>
            <a:ext cx="599270" cy="396879"/>
          </a:xfrm>
          <a:prstGeom prst="rect">
            <a:avLst/>
          </a:prstGeom>
        </p:spPr>
      </p:pic>
      <p:cxnSp>
        <p:nvCxnSpPr>
          <p:cNvPr id="12" name="Straight Connector 11">
            <a:extLst>
              <a:ext uri="{FF2B5EF4-FFF2-40B4-BE49-F238E27FC236}">
                <a16:creationId xmlns:a16="http://schemas.microsoft.com/office/drawing/2014/main" id="{3AE5AE47-CF4D-55BD-80ED-4ABE05325878}"/>
              </a:ext>
            </a:extLst>
          </p:cNvPr>
          <p:cNvCxnSpPr/>
          <p:nvPr/>
        </p:nvCxnSpPr>
        <p:spPr>
          <a:xfrm>
            <a:off x="1788971" y="987683"/>
            <a:ext cx="0" cy="47545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EE501B5-345A-EB93-5880-D723D37DD07C}"/>
              </a:ext>
            </a:extLst>
          </p:cNvPr>
          <p:cNvCxnSpPr/>
          <p:nvPr/>
        </p:nvCxnSpPr>
        <p:spPr>
          <a:xfrm>
            <a:off x="2704101" y="957027"/>
            <a:ext cx="0" cy="47545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4E88EE61-2242-CA77-5668-E4432A881B62}"/>
              </a:ext>
            </a:extLst>
          </p:cNvPr>
          <p:cNvSpPr txBox="1"/>
          <p:nvPr/>
        </p:nvSpPr>
        <p:spPr>
          <a:xfrm>
            <a:off x="6314902" y="3869104"/>
            <a:ext cx="3524435" cy="584775"/>
          </a:xfrm>
          <a:prstGeom prst="rect">
            <a:avLst/>
          </a:prstGeom>
          <a:noFill/>
        </p:spPr>
        <p:txBody>
          <a:bodyPr wrap="square" rtlCol="0">
            <a:spAutoFit/>
          </a:bodyPr>
          <a:lstStyle/>
          <a:p>
            <a:r>
              <a:rPr lang="en-IN" sz="1600" dirty="0">
                <a:solidFill>
                  <a:schemeClr val="bg1"/>
                </a:solidFill>
              </a:rPr>
              <a:t>N. Rishi </a:t>
            </a:r>
            <a:r>
              <a:rPr lang="en-IN" sz="1600" dirty="0" err="1">
                <a:solidFill>
                  <a:schemeClr val="bg1"/>
                </a:solidFill>
              </a:rPr>
              <a:t>varun</a:t>
            </a:r>
            <a:endParaRPr lang="en-IN" sz="1600" dirty="0">
              <a:solidFill>
                <a:schemeClr val="bg1"/>
              </a:solidFill>
            </a:endParaRPr>
          </a:p>
          <a:p>
            <a:r>
              <a:rPr lang="en-IN" sz="1600" dirty="0">
                <a:solidFill>
                  <a:schemeClr val="bg1"/>
                </a:solidFill>
              </a:rPr>
              <a:t>A. Srikanth</a:t>
            </a:r>
          </a:p>
        </p:txBody>
      </p:sp>
      <p:sp>
        <p:nvSpPr>
          <p:cNvPr id="11" name="TextBox 10">
            <a:extLst>
              <a:ext uri="{FF2B5EF4-FFF2-40B4-BE49-F238E27FC236}">
                <a16:creationId xmlns:a16="http://schemas.microsoft.com/office/drawing/2014/main" id="{B750B900-7CF4-4E3A-B3A5-521E18CC1138}"/>
              </a:ext>
            </a:extLst>
          </p:cNvPr>
          <p:cNvSpPr txBox="1"/>
          <p:nvPr/>
        </p:nvSpPr>
        <p:spPr>
          <a:xfrm>
            <a:off x="485743" y="4061106"/>
            <a:ext cx="3524435" cy="1569660"/>
          </a:xfrm>
          <a:prstGeom prst="rect">
            <a:avLst/>
          </a:prstGeom>
          <a:noFill/>
        </p:spPr>
        <p:txBody>
          <a:bodyPr wrap="square" rtlCol="0">
            <a:spAutoFit/>
          </a:bodyPr>
          <a:lstStyle/>
          <a:p>
            <a:endParaRPr lang="en-IN" sz="1600" i="1" dirty="0">
              <a:solidFill>
                <a:schemeClr val="bg1"/>
              </a:solidFill>
            </a:endParaRPr>
          </a:p>
          <a:p>
            <a:endParaRPr lang="en-IN" sz="1600" i="1" dirty="0">
              <a:solidFill>
                <a:schemeClr val="bg1"/>
              </a:solidFill>
            </a:endParaRPr>
          </a:p>
          <a:p>
            <a:r>
              <a:rPr lang="en-IN" sz="1600" i="1" dirty="0">
                <a:solidFill>
                  <a:schemeClr val="bg1"/>
                </a:solidFill>
              </a:rPr>
              <a:t>Under the mentorship of</a:t>
            </a:r>
          </a:p>
          <a:p>
            <a:r>
              <a:rPr lang="en-US" sz="1600" i="1" dirty="0">
                <a:solidFill>
                  <a:schemeClr val="bg1"/>
                </a:solidFill>
              </a:rPr>
              <a:t>-</a:t>
            </a:r>
            <a:r>
              <a:rPr lang="en-US" sz="1600" i="1" dirty="0" err="1">
                <a:solidFill>
                  <a:schemeClr val="bg1"/>
                </a:solidFill>
              </a:rPr>
              <a:t>Sumit</a:t>
            </a:r>
            <a:r>
              <a:rPr lang="en-US" sz="1600" i="1" dirty="0">
                <a:solidFill>
                  <a:schemeClr val="bg1"/>
                </a:solidFill>
              </a:rPr>
              <a:t> sunil Sartale</a:t>
            </a:r>
            <a:endParaRPr lang="en-IN" sz="1600" i="1" dirty="0">
              <a:solidFill>
                <a:schemeClr val="bg1"/>
              </a:solidFill>
            </a:endParaRPr>
          </a:p>
          <a:p>
            <a:endParaRPr lang="en-IN" sz="1600" dirty="0">
              <a:solidFill>
                <a:schemeClr val="bg1"/>
              </a:solidFill>
            </a:endParaRPr>
          </a:p>
          <a:p>
            <a:endParaRPr lang="en-IN" sz="1600" dirty="0"/>
          </a:p>
        </p:txBody>
      </p:sp>
      <p:sp>
        <p:nvSpPr>
          <p:cNvPr id="3" name="TextBox 2">
            <a:extLst>
              <a:ext uri="{FF2B5EF4-FFF2-40B4-BE49-F238E27FC236}">
                <a16:creationId xmlns:a16="http://schemas.microsoft.com/office/drawing/2014/main" id="{53A999B9-1745-6B8A-053F-E5BEAB4DF093}"/>
              </a:ext>
            </a:extLst>
          </p:cNvPr>
          <p:cNvSpPr txBox="1"/>
          <p:nvPr/>
        </p:nvSpPr>
        <p:spPr>
          <a:xfrm>
            <a:off x="1086216" y="1666410"/>
            <a:ext cx="6326955" cy="978729"/>
          </a:xfrm>
          <a:prstGeom prst="rect">
            <a:avLst/>
          </a:prstGeom>
          <a:noFill/>
        </p:spPr>
        <p:txBody>
          <a:bodyPr wrap="square" rtlCol="0">
            <a:spAutoFit/>
          </a:bodyPr>
          <a:lstStyle/>
          <a:p>
            <a:pPr algn="ctr">
              <a:lnSpc>
                <a:spcPct val="90000"/>
              </a:lnSpc>
            </a:pPr>
            <a:r>
              <a:rPr lang="en-US" sz="3200" b="1" spc="-1" dirty="0">
                <a:solidFill>
                  <a:schemeClr val="bg1"/>
                </a:solidFill>
              </a:rPr>
              <a:t>IoT Remote vehicle for Hazardous Zone Exploration</a:t>
            </a:r>
            <a:endParaRPr lang="en-US" sz="3200" spc="-1" dirty="0">
              <a:solidFill>
                <a:schemeClr val="bg1"/>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438300" y="393631"/>
            <a:ext cx="3009530" cy="21420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dirty="0">
                <a:solidFill>
                  <a:srgbClr val="213163"/>
                </a:solidFill>
              </a:rPr>
              <a:t>Project Objectives</a:t>
            </a:r>
            <a:endParaRPr sz="2400" dirty="0"/>
          </a:p>
        </p:txBody>
      </p:sp>
      <p:pic>
        <p:nvPicPr>
          <p:cNvPr id="4" name="Picture 3">
            <a:extLst>
              <a:ext uri="{FF2B5EF4-FFF2-40B4-BE49-F238E27FC236}">
                <a16:creationId xmlns:a16="http://schemas.microsoft.com/office/drawing/2014/main" id="{FE6ACA23-A691-BBFF-54D8-448548EFD8C2}"/>
              </a:ext>
            </a:extLst>
          </p:cNvPr>
          <p:cNvPicPr>
            <a:picLocks noChangeAspect="1"/>
          </p:cNvPicPr>
          <p:nvPr/>
        </p:nvPicPr>
        <p:blipFill>
          <a:blip r:embed="rId3"/>
          <a:stretch>
            <a:fillRect/>
          </a:stretch>
        </p:blipFill>
        <p:spPr>
          <a:xfrm>
            <a:off x="4745518" y="974280"/>
            <a:ext cx="3194940" cy="3194940"/>
          </a:xfrm>
          <a:prstGeom prst="rect">
            <a:avLst/>
          </a:prstGeom>
        </p:spPr>
      </p:pic>
      <p:sp>
        <p:nvSpPr>
          <p:cNvPr id="6" name="Google Shape;62;g5fab984687_2_0">
            <a:extLst>
              <a:ext uri="{FF2B5EF4-FFF2-40B4-BE49-F238E27FC236}">
                <a16:creationId xmlns:a16="http://schemas.microsoft.com/office/drawing/2014/main" id="{2C2DB4A5-624B-CADA-0A3F-8AADD412BC0C}"/>
              </a:ext>
            </a:extLst>
          </p:cNvPr>
          <p:cNvSpPr txBox="1">
            <a:spLocks/>
          </p:cNvSpPr>
          <p:nvPr/>
        </p:nvSpPr>
        <p:spPr>
          <a:xfrm>
            <a:off x="438300" y="977010"/>
            <a:ext cx="4370464" cy="31949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82880" indent="-182880">
              <a:lnSpc>
                <a:spcPct val="150000"/>
              </a:lnSpc>
              <a:buFont typeface="Arial" panose="020B0604020202020204" pitchFamily="34" charset="0"/>
              <a:buChar char="•"/>
            </a:pPr>
            <a:r>
              <a:rPr lang="en-US" sz="1500" dirty="0"/>
              <a:t>Problem Statement</a:t>
            </a:r>
          </a:p>
          <a:p>
            <a:pPr marL="182880" indent="-182880">
              <a:lnSpc>
                <a:spcPct val="150000"/>
              </a:lnSpc>
              <a:buFont typeface="Arial" panose="020B0604020202020204" pitchFamily="34" charset="0"/>
              <a:buChar char="•"/>
            </a:pPr>
            <a:r>
              <a:rPr lang="en-US" sz="1500" dirty="0"/>
              <a:t>Analysis of our survey</a:t>
            </a:r>
          </a:p>
          <a:p>
            <a:pPr marL="182880" indent="-182880">
              <a:lnSpc>
                <a:spcPct val="150000"/>
              </a:lnSpc>
              <a:buFont typeface="Arial" panose="020B0604020202020204" pitchFamily="34" charset="0"/>
              <a:buChar char="•"/>
            </a:pPr>
            <a:r>
              <a:rPr lang="en-US" sz="1500" dirty="0"/>
              <a:t>Project Overview – Introduction</a:t>
            </a:r>
          </a:p>
          <a:p>
            <a:pPr marL="182880" indent="-182880">
              <a:lnSpc>
                <a:spcPct val="150000"/>
              </a:lnSpc>
              <a:buFont typeface="Arial" panose="020B0604020202020204" pitchFamily="34" charset="0"/>
              <a:buChar char="•"/>
            </a:pPr>
            <a:r>
              <a:rPr lang="en-US" sz="1500" dirty="0"/>
              <a:t>Technologies Used</a:t>
            </a:r>
          </a:p>
          <a:p>
            <a:pPr marL="182880" indent="-182880">
              <a:lnSpc>
                <a:spcPct val="150000"/>
              </a:lnSpc>
              <a:buFont typeface="Arial" panose="020B0604020202020204" pitchFamily="34" charset="0"/>
              <a:buChar char="•"/>
            </a:pPr>
            <a:r>
              <a:rPr lang="en-US" sz="1500" dirty="0"/>
              <a:t>End Users</a:t>
            </a:r>
          </a:p>
          <a:p>
            <a:pPr marL="182880" indent="-182880">
              <a:lnSpc>
                <a:spcPct val="150000"/>
              </a:lnSpc>
              <a:buFont typeface="Arial" panose="020B0604020202020204" pitchFamily="34" charset="0"/>
              <a:buChar char="•"/>
            </a:pPr>
            <a:r>
              <a:rPr lang="en-US" sz="1500" dirty="0"/>
              <a:t>Wow Factor in Project</a:t>
            </a:r>
          </a:p>
          <a:p>
            <a:pPr marL="182880" indent="-182880">
              <a:lnSpc>
                <a:spcPct val="150000"/>
              </a:lnSpc>
              <a:buFont typeface="Arial" panose="020B0604020202020204" pitchFamily="34" charset="0"/>
              <a:buChar char="•"/>
            </a:pPr>
            <a:r>
              <a:rPr lang="en-US" sz="1500" dirty="0"/>
              <a:t>Flow of Project</a:t>
            </a:r>
          </a:p>
          <a:p>
            <a:pPr marL="182880" indent="-182880">
              <a:lnSpc>
                <a:spcPct val="150000"/>
              </a:lnSpc>
              <a:buFont typeface="Arial" panose="020B0604020202020204" pitchFamily="34" charset="0"/>
              <a:buChar char="•"/>
            </a:pPr>
            <a:r>
              <a:rPr lang="en-US" sz="1500" dirty="0"/>
              <a:t>Result</a:t>
            </a:r>
          </a:p>
          <a:p>
            <a:pPr marL="182880" indent="-182880">
              <a:lnSpc>
                <a:spcPct val="150000"/>
              </a:lnSpc>
              <a:buFont typeface="Arial" panose="020B0604020202020204" pitchFamily="34" charset="0"/>
              <a:buChar char="•"/>
            </a:pPr>
            <a:r>
              <a:rPr lang="en-US" sz="1500" dirty="0"/>
              <a:t>Conclusion</a:t>
            </a:r>
          </a:p>
          <a:p>
            <a:pPr marL="182880" indent="-182880">
              <a:lnSpc>
                <a:spcPct val="150000"/>
              </a:lnSpc>
              <a:buFont typeface="Arial" panose="020B0604020202020204" pitchFamily="34" charset="0"/>
              <a:buChar char="•"/>
            </a:pPr>
            <a:r>
              <a:rPr lang="en-US" sz="1500" dirty="0"/>
              <a:t>Future Perspective</a:t>
            </a:r>
          </a:p>
          <a:p>
            <a:pPr marL="182880" indent="-182880">
              <a:lnSpc>
                <a:spcPct val="150000"/>
              </a:lnSpc>
              <a:buFont typeface="Arial" panose="020B0604020202020204" pitchFamily="34" charset="0"/>
              <a:buChar char="•"/>
            </a:pPr>
            <a:endParaRPr lang="en-US" sz="1500" dirty="0"/>
          </a:p>
          <a:p>
            <a:pPr marL="182880" indent="-182880">
              <a:lnSpc>
                <a:spcPct val="150000"/>
              </a:lnSpc>
              <a:buFont typeface="Arial" panose="020B0604020202020204" pitchFamily="34" charset="0"/>
              <a:buChar char="•"/>
            </a:pPr>
            <a:endParaRPr lang="en-US" sz="1500" dirty="0"/>
          </a:p>
          <a:p>
            <a:pPr marL="182880" indent="-182880">
              <a:lnSpc>
                <a:spcPct val="150000"/>
              </a:lnSpc>
              <a:buFont typeface="Arial" panose="020B0604020202020204" pitchFamily="34" charset="0"/>
              <a:buChar char="•"/>
            </a:pPr>
            <a:endParaRPr lang="en-US" sz="1500" dirty="0"/>
          </a:p>
          <a:p>
            <a:pPr marL="182880" indent="-182880">
              <a:lnSpc>
                <a:spcPct val="150000"/>
              </a:lnSpc>
              <a:buFont typeface="Arial" panose="020B0604020202020204" pitchFamily="34" charset="0"/>
              <a:buChar char="•"/>
            </a:pPr>
            <a:endParaRPr lang="en-US" sz="1500" dirty="0"/>
          </a:p>
          <a:p>
            <a:pPr marL="182880" indent="-182880">
              <a:lnSpc>
                <a:spcPct val="150000"/>
              </a:lnSpc>
              <a:buFont typeface="Arial" panose="020B0604020202020204" pitchFamily="34" charset="0"/>
              <a:buChar char="•"/>
            </a:pP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a:xfrm>
            <a:off x="311700" y="186240"/>
            <a:ext cx="8520600" cy="572700"/>
          </a:xfrm>
        </p:spPr>
        <p:txBody>
          <a:bodyPr/>
          <a:lstStyle/>
          <a:p>
            <a:r>
              <a:rPr lang="en-IN" sz="2400" b="1" dirty="0">
                <a:solidFill>
                  <a:srgbClr val="002060"/>
                </a:solidFill>
              </a:rPr>
              <a:t>Problem Statement</a:t>
            </a:r>
          </a:p>
        </p:txBody>
      </p:sp>
      <p:sp>
        <p:nvSpPr>
          <p:cNvPr id="2" name="TextBox 1">
            <a:extLst>
              <a:ext uri="{FF2B5EF4-FFF2-40B4-BE49-F238E27FC236}">
                <a16:creationId xmlns:a16="http://schemas.microsoft.com/office/drawing/2014/main" id="{127EBDC0-9690-8201-F128-5DD78DE428CB}"/>
              </a:ext>
            </a:extLst>
          </p:cNvPr>
          <p:cNvSpPr txBox="1"/>
          <p:nvPr/>
        </p:nvSpPr>
        <p:spPr>
          <a:xfrm>
            <a:off x="665305" y="1223404"/>
            <a:ext cx="7813390" cy="3064817"/>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5E7697EF-E1F5-A605-DAB7-04781F16FEFB}"/>
              </a:ext>
            </a:extLst>
          </p:cNvPr>
          <p:cNvSpPr txBox="1"/>
          <p:nvPr/>
        </p:nvSpPr>
        <p:spPr>
          <a:xfrm>
            <a:off x="-243619" y="675116"/>
            <a:ext cx="8365823" cy="2642839"/>
          </a:xfrm>
          <a:prstGeom prst="rect">
            <a:avLst/>
          </a:prstGeom>
          <a:noFill/>
        </p:spPr>
        <p:txBody>
          <a:bodyPr wrap="square" rtlCol="0">
            <a:spAutoFit/>
          </a:bodyPr>
          <a:lstStyle/>
          <a:p>
            <a:pPr marL="663575" lvl="1" indent="-285750" algn="just">
              <a:lnSpc>
                <a:spcPct val="150000"/>
              </a:lnSpc>
              <a:buClr>
                <a:schemeClr val="tx1"/>
              </a:buClr>
              <a:buFont typeface="Arial" panose="020B0604020202020204" pitchFamily="34" charset="0"/>
              <a:buChar char="•"/>
            </a:pPr>
            <a:r>
              <a:rPr lang="en-US" b="1" dirty="0"/>
              <a:t>Safety Risks</a:t>
            </a:r>
            <a:r>
              <a:rPr lang="en-US" dirty="0"/>
              <a:t>: Mining areas and other hazardous zones pose dangers such as toxic gases and extreme temperatures, making it unsafe for humans.  </a:t>
            </a:r>
          </a:p>
          <a:p>
            <a:pPr marL="663575" lvl="1" indent="-285750" algn="just">
              <a:lnSpc>
                <a:spcPct val="150000"/>
              </a:lnSpc>
              <a:buClr>
                <a:schemeClr val="tx1"/>
              </a:buClr>
              <a:buFont typeface="Arial" panose="020B0604020202020204" pitchFamily="34" charset="0"/>
              <a:buChar char="•"/>
            </a:pPr>
            <a:r>
              <a:rPr lang="en-US" b="1" dirty="0"/>
              <a:t>Limited Human Accessibility</a:t>
            </a:r>
            <a:r>
              <a:rPr lang="en-US" dirty="0"/>
              <a:t>: Certain areas in mines or disaster zones are too dangerous or difficult for direct human entry.  </a:t>
            </a:r>
          </a:p>
          <a:p>
            <a:pPr marL="663575" lvl="1" indent="-285750" algn="just">
              <a:lnSpc>
                <a:spcPct val="150000"/>
              </a:lnSpc>
              <a:buClr>
                <a:schemeClr val="tx1"/>
              </a:buClr>
              <a:buFont typeface="Arial" panose="020B0604020202020204" pitchFamily="34" charset="0"/>
              <a:buChar char="•"/>
            </a:pPr>
            <a:r>
              <a:rPr lang="en-US" b="1" dirty="0"/>
              <a:t>Real-time Monitoring</a:t>
            </a:r>
            <a:r>
              <a:rPr lang="en-US" dirty="0"/>
              <a:t>:  Lack of an effective system to remotely monitor environmental conditions like gas levels, temperature, and structural integrity.  </a:t>
            </a:r>
          </a:p>
          <a:p>
            <a:pPr marL="663575" lvl="1" indent="-285750" algn="just">
              <a:lnSpc>
                <a:spcPct val="150000"/>
              </a:lnSpc>
              <a:buClr>
                <a:schemeClr val="tx1"/>
              </a:buClr>
              <a:buFont typeface="Arial" panose="020B0604020202020204" pitchFamily="34" charset="0"/>
              <a:buChar char="•"/>
            </a:pPr>
            <a:r>
              <a:rPr lang="en-US" b="1" dirty="0"/>
              <a:t>Communication Issues</a:t>
            </a:r>
            <a:r>
              <a:rPr lang="en-US" dirty="0"/>
              <a:t>: Traditional methods may not provide a reliable communication system for controlling vehicles in remote locations. </a:t>
            </a:r>
            <a:endParaRPr lang="en-US" dirty="0">
              <a:solidFill>
                <a:srgbClr val="000000"/>
              </a:solidFill>
              <a:latin typeface="Canva Sans"/>
              <a:ea typeface="Canva Sans"/>
              <a:cs typeface="Canva Sans"/>
              <a:sym typeface="Canva Sans"/>
            </a:endParaRPr>
          </a:p>
        </p:txBody>
      </p:sp>
      <p:pic>
        <p:nvPicPr>
          <p:cNvPr id="7" name="Picture 6">
            <a:extLst>
              <a:ext uri="{FF2B5EF4-FFF2-40B4-BE49-F238E27FC236}">
                <a16:creationId xmlns:a16="http://schemas.microsoft.com/office/drawing/2014/main" id="{99304F71-2596-4089-9281-C393B5FD90DF}"/>
              </a:ext>
            </a:extLst>
          </p:cNvPr>
          <p:cNvPicPr>
            <a:picLocks noChangeAspect="1"/>
          </p:cNvPicPr>
          <p:nvPr/>
        </p:nvPicPr>
        <p:blipFill>
          <a:blip r:embed="rId2"/>
          <a:stretch>
            <a:fillRect/>
          </a:stretch>
        </p:blipFill>
        <p:spPr>
          <a:xfrm>
            <a:off x="571797" y="3339988"/>
            <a:ext cx="2226278" cy="1617272"/>
          </a:xfrm>
          <a:prstGeom prst="rect">
            <a:avLst/>
          </a:prstGeom>
        </p:spPr>
      </p:pic>
      <p:pic>
        <p:nvPicPr>
          <p:cNvPr id="1026" name="Picture 2" descr="Miners underground at a copper mine in NSW, Australia">
            <a:extLst>
              <a:ext uri="{FF2B5EF4-FFF2-40B4-BE49-F238E27FC236}">
                <a16:creationId xmlns:a16="http://schemas.microsoft.com/office/drawing/2014/main" id="{8CE19385-5C8C-9294-4206-65D2DEB773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6339" y="3339988"/>
            <a:ext cx="2512045" cy="167469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sample underground mine explosion due to the buildup of toxic gases.">
            <a:extLst>
              <a:ext uri="{FF2B5EF4-FFF2-40B4-BE49-F238E27FC236}">
                <a16:creationId xmlns:a16="http://schemas.microsoft.com/office/drawing/2014/main" id="{38E338A9-720B-0C5E-4D15-9010622C6C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9325" y="3272069"/>
            <a:ext cx="3169177" cy="1912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7993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3207D2-D3F6-422B-B91F-A77DE37075E5}"/>
              </a:ext>
            </a:extLst>
          </p:cNvPr>
          <p:cNvPicPr>
            <a:picLocks noChangeAspect="1"/>
          </p:cNvPicPr>
          <p:nvPr/>
        </p:nvPicPr>
        <p:blipFill>
          <a:blip r:embed="rId2"/>
          <a:stretch>
            <a:fillRect/>
          </a:stretch>
        </p:blipFill>
        <p:spPr>
          <a:xfrm>
            <a:off x="1114740" y="978082"/>
            <a:ext cx="7131190" cy="3708219"/>
          </a:xfrm>
          <a:prstGeom prst="rect">
            <a:avLst/>
          </a:prstGeom>
        </p:spPr>
      </p:pic>
      <p:sp>
        <p:nvSpPr>
          <p:cNvPr id="5" name="TextBox 4">
            <a:extLst>
              <a:ext uri="{FF2B5EF4-FFF2-40B4-BE49-F238E27FC236}">
                <a16:creationId xmlns:a16="http://schemas.microsoft.com/office/drawing/2014/main" id="{3383A5D3-C142-4158-99C7-F0677D64F30E}"/>
              </a:ext>
            </a:extLst>
          </p:cNvPr>
          <p:cNvSpPr txBox="1"/>
          <p:nvPr/>
        </p:nvSpPr>
        <p:spPr>
          <a:xfrm>
            <a:off x="551089" y="359229"/>
            <a:ext cx="8041821" cy="461665"/>
          </a:xfrm>
          <a:prstGeom prst="rect">
            <a:avLst/>
          </a:prstGeom>
          <a:noFill/>
        </p:spPr>
        <p:txBody>
          <a:bodyPr wrap="square" rtlCol="0">
            <a:spAutoFit/>
          </a:bodyPr>
          <a:lstStyle/>
          <a:p>
            <a:r>
              <a:rPr lang="en-US" sz="2400" b="1" dirty="0">
                <a:solidFill>
                  <a:srgbClr val="002060"/>
                </a:solidFill>
              </a:rPr>
              <a:t>Analysis of our Survey :- </a:t>
            </a:r>
            <a:endParaRPr lang="en-IN" sz="2400" b="1" dirty="0">
              <a:solidFill>
                <a:srgbClr val="002060"/>
              </a:solidFill>
            </a:endParaRPr>
          </a:p>
        </p:txBody>
      </p:sp>
    </p:spTree>
    <p:extLst>
      <p:ext uri="{BB962C8B-B14F-4D97-AF65-F5344CB8AC3E}">
        <p14:creationId xmlns:p14="http://schemas.microsoft.com/office/powerpoint/2010/main" val="865979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a:xfrm>
            <a:off x="311700" y="356031"/>
            <a:ext cx="8520600" cy="572700"/>
          </a:xfrm>
        </p:spPr>
        <p:txBody>
          <a:bodyPr/>
          <a:lstStyle/>
          <a:p>
            <a:r>
              <a:rPr lang="en-IN" sz="2400" b="1" dirty="0">
                <a:solidFill>
                  <a:srgbClr val="002060"/>
                </a:solidFill>
              </a:rPr>
              <a:t>Project overview - Introduction</a:t>
            </a:r>
          </a:p>
        </p:txBody>
      </p:sp>
      <p:sp>
        <p:nvSpPr>
          <p:cNvPr id="2" name="TextBox 1">
            <a:extLst>
              <a:ext uri="{FF2B5EF4-FFF2-40B4-BE49-F238E27FC236}">
                <a16:creationId xmlns:a16="http://schemas.microsoft.com/office/drawing/2014/main" id="{7FF2ED32-5D87-75E5-F75A-769E7A6C87B3}"/>
              </a:ext>
            </a:extLst>
          </p:cNvPr>
          <p:cNvSpPr txBox="1"/>
          <p:nvPr/>
        </p:nvSpPr>
        <p:spPr>
          <a:xfrm>
            <a:off x="-129944" y="960346"/>
            <a:ext cx="5731926" cy="4253537"/>
          </a:xfrm>
          <a:prstGeom prst="rect">
            <a:avLst/>
          </a:prstGeom>
          <a:noFill/>
        </p:spPr>
        <p:txBody>
          <a:bodyPr wrap="square" rtlCol="0">
            <a:spAutoFit/>
          </a:bodyPr>
          <a:lstStyle/>
          <a:p>
            <a:pPr marL="755649" lvl="1" indent="-377824" algn="just">
              <a:lnSpc>
                <a:spcPct val="150000"/>
              </a:lnSpc>
              <a:buFont typeface="Arial" panose="020B0604020202020204" pitchFamily="34" charset="0"/>
              <a:buChar char="•"/>
            </a:pPr>
            <a:r>
              <a:rPr lang="en-US" dirty="0">
                <a:latin typeface="+mj-lt"/>
                <a:ea typeface="Canva Sans"/>
                <a:cs typeface="Canva Sans"/>
                <a:sym typeface="Canva Sans"/>
              </a:rPr>
              <a:t>The sensors that are used to measure the levels of temperature, methane, carbon monoxide, and pressure in the mine. The data from these sensors is then sent to a central control system, which can be used to monitor the mine environment in real time.</a:t>
            </a:r>
          </a:p>
          <a:p>
            <a:pPr marL="755649" lvl="1" indent="-377824" algn="just">
              <a:lnSpc>
                <a:spcPct val="150000"/>
              </a:lnSpc>
              <a:buFont typeface="Arial" panose="020B0604020202020204" pitchFamily="34" charset="0"/>
              <a:buChar char="•"/>
            </a:pPr>
            <a:endParaRPr lang="en-US" dirty="0">
              <a:latin typeface="+mj-lt"/>
              <a:ea typeface="Canva Sans"/>
              <a:cs typeface="Canva Sans"/>
              <a:sym typeface="Canva Sans"/>
            </a:endParaRPr>
          </a:p>
          <a:p>
            <a:pPr marL="755649" lvl="1" indent="-377824" algn="just">
              <a:lnSpc>
                <a:spcPct val="150000"/>
              </a:lnSpc>
              <a:buFont typeface="Arial" panose="020B0604020202020204" pitchFamily="34" charset="0"/>
              <a:buChar char="•"/>
            </a:pPr>
            <a:r>
              <a:rPr lang="en-US" dirty="0">
                <a:latin typeface="+mj-lt"/>
                <a:ea typeface="Canva Sans"/>
                <a:cs typeface="Canva Sans"/>
                <a:sym typeface="Canva Sans"/>
              </a:rPr>
              <a:t>In addition to the sensors and control system, our project also includes a live monitoring system. This system allows the mine manager to view the data from the sensors in real time, from anywhere in the world. This allows the manager to quickly identify any potential hazards and take steps to address them.</a:t>
            </a:r>
          </a:p>
          <a:p>
            <a:pPr marL="755649" lvl="1" indent="-377824" algn="just">
              <a:lnSpc>
                <a:spcPct val="150000"/>
              </a:lnSpc>
              <a:buFont typeface="Arial" panose="020B0604020202020204" pitchFamily="34" charset="0"/>
              <a:buChar char="•"/>
            </a:pPr>
            <a:endParaRPr lang="en-US" dirty="0">
              <a:latin typeface="+mj-lt"/>
              <a:ea typeface="Canva Sans"/>
              <a:cs typeface="Canva Sans"/>
              <a:sym typeface="Canva Sans"/>
            </a:endParaRPr>
          </a:p>
        </p:txBody>
      </p:sp>
      <p:pic>
        <p:nvPicPr>
          <p:cNvPr id="6" name="Picture 5">
            <a:extLst>
              <a:ext uri="{FF2B5EF4-FFF2-40B4-BE49-F238E27FC236}">
                <a16:creationId xmlns:a16="http://schemas.microsoft.com/office/drawing/2014/main" id="{7C565440-26CA-4A2D-A9B7-F6C0C57DAE25}"/>
              </a:ext>
            </a:extLst>
          </p:cNvPr>
          <p:cNvPicPr>
            <a:picLocks noChangeAspect="1"/>
          </p:cNvPicPr>
          <p:nvPr/>
        </p:nvPicPr>
        <p:blipFill>
          <a:blip r:embed="rId3"/>
          <a:stretch>
            <a:fillRect/>
          </a:stretch>
        </p:blipFill>
        <p:spPr>
          <a:xfrm>
            <a:off x="5728225" y="960346"/>
            <a:ext cx="3415775" cy="3753817"/>
          </a:xfrm>
          <a:prstGeom prst="rect">
            <a:avLst/>
          </a:prstGeom>
          <a:ln>
            <a:noFill/>
          </a:ln>
          <a:effectLst>
            <a:softEdge rad="112500"/>
          </a:effectLst>
        </p:spPr>
      </p:pic>
    </p:spTree>
    <p:extLst>
      <p:ext uri="{BB962C8B-B14F-4D97-AF65-F5344CB8AC3E}">
        <p14:creationId xmlns:p14="http://schemas.microsoft.com/office/powerpoint/2010/main" val="3764415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B1304D-B64C-419A-ABD4-CB1349EA33FA}"/>
              </a:ext>
            </a:extLst>
          </p:cNvPr>
          <p:cNvSpPr txBox="1"/>
          <p:nvPr/>
        </p:nvSpPr>
        <p:spPr>
          <a:xfrm>
            <a:off x="661306" y="303068"/>
            <a:ext cx="3641272" cy="461665"/>
          </a:xfrm>
          <a:prstGeom prst="rect">
            <a:avLst/>
          </a:prstGeom>
          <a:noFill/>
        </p:spPr>
        <p:txBody>
          <a:bodyPr wrap="square" rtlCol="0">
            <a:spAutoFit/>
          </a:bodyPr>
          <a:lstStyle/>
          <a:p>
            <a:r>
              <a:rPr lang="en-US" sz="2400" b="1" dirty="0">
                <a:solidFill>
                  <a:srgbClr val="002060"/>
                </a:solidFill>
              </a:rPr>
              <a:t>Technologies Used :- </a:t>
            </a:r>
            <a:endParaRPr lang="en-IN" sz="2400" b="1" dirty="0">
              <a:solidFill>
                <a:srgbClr val="002060"/>
              </a:solidFill>
            </a:endParaRPr>
          </a:p>
        </p:txBody>
      </p:sp>
      <p:sp>
        <p:nvSpPr>
          <p:cNvPr id="5" name="TextBox 4">
            <a:extLst>
              <a:ext uri="{FF2B5EF4-FFF2-40B4-BE49-F238E27FC236}">
                <a16:creationId xmlns:a16="http://schemas.microsoft.com/office/drawing/2014/main" id="{5AAD82B0-0933-4CDB-8DFD-3091B42ADB6F}"/>
              </a:ext>
            </a:extLst>
          </p:cNvPr>
          <p:cNvSpPr txBox="1"/>
          <p:nvPr/>
        </p:nvSpPr>
        <p:spPr>
          <a:xfrm>
            <a:off x="661306" y="909756"/>
            <a:ext cx="5323114" cy="3600986"/>
          </a:xfrm>
          <a:prstGeom prst="rect">
            <a:avLst/>
          </a:prstGeom>
          <a:noFill/>
        </p:spPr>
        <p:txBody>
          <a:bodyPr wrap="square" rtlCol="0">
            <a:spAutoFit/>
          </a:bodyPr>
          <a:lstStyle/>
          <a:p>
            <a:r>
              <a:rPr lang="en-US" b="1" dirty="0">
                <a:solidFill>
                  <a:srgbClr val="002060"/>
                </a:solidFill>
              </a:rPr>
              <a:t>Hardware Components:-</a:t>
            </a:r>
          </a:p>
          <a:p>
            <a:endParaRPr lang="en-US" sz="1500" dirty="0"/>
          </a:p>
          <a:p>
            <a:pPr marL="285750" indent="-285750">
              <a:buFont typeface="Arial" panose="020B0604020202020204" pitchFamily="34" charset="0"/>
              <a:buChar char="•"/>
            </a:pPr>
            <a:r>
              <a:rPr lang="en-US" dirty="0"/>
              <a:t>Raspberry Pi (Microcontroller)– Raspberry Pi 4 Model B</a:t>
            </a:r>
          </a:p>
          <a:p>
            <a:pPr marL="285750" indent="-285750">
              <a:buFont typeface="Arial" panose="020B0604020202020204" pitchFamily="34" charset="0"/>
              <a:buChar char="•"/>
            </a:pPr>
            <a:r>
              <a:rPr lang="en-US" dirty="0"/>
              <a:t>Motor Driver Module – L298N Dual H-Bridge</a:t>
            </a:r>
          </a:p>
          <a:p>
            <a:pPr marL="285750" indent="-285750">
              <a:buFont typeface="Arial" panose="020B0604020202020204" pitchFamily="34" charset="0"/>
              <a:buChar char="•"/>
            </a:pPr>
            <a:r>
              <a:rPr lang="en-US" dirty="0"/>
              <a:t>Temperature Sensor – LM35 </a:t>
            </a:r>
          </a:p>
          <a:p>
            <a:pPr marL="285750" indent="-285750">
              <a:buFont typeface="Arial" panose="020B0604020202020204" pitchFamily="34" charset="0"/>
              <a:buChar char="•"/>
            </a:pPr>
            <a:r>
              <a:rPr lang="en-US" dirty="0"/>
              <a:t>Methane Sensor – MQ-4 </a:t>
            </a:r>
          </a:p>
          <a:p>
            <a:pPr marL="285750" indent="-285750">
              <a:buFont typeface="Arial" panose="020B0604020202020204" pitchFamily="34" charset="0"/>
              <a:buChar char="•"/>
            </a:pPr>
            <a:r>
              <a:rPr lang="en-US" dirty="0"/>
              <a:t>Carbon Monoxide Sensor – MQ-7</a:t>
            </a:r>
          </a:p>
          <a:p>
            <a:pPr marL="285750" indent="-285750">
              <a:buFont typeface="Arial" panose="020B0604020202020204" pitchFamily="34" charset="0"/>
              <a:buChar char="•"/>
            </a:pPr>
            <a:r>
              <a:rPr lang="en-US" dirty="0"/>
              <a:t>Barometer Sensor – BMP280  </a:t>
            </a:r>
          </a:p>
          <a:p>
            <a:pPr marL="285750" indent="-285750">
              <a:buFont typeface="Arial" panose="020B0604020202020204" pitchFamily="34" charset="0"/>
              <a:buChar char="•"/>
            </a:pPr>
            <a:r>
              <a:rPr lang="en-US" dirty="0"/>
              <a:t>Power Bank – 5V, 10000mAh </a:t>
            </a:r>
          </a:p>
          <a:p>
            <a:pPr marL="285750" indent="-285750">
              <a:buFont typeface="Arial" panose="020B0604020202020204" pitchFamily="34" charset="0"/>
              <a:buChar char="•"/>
            </a:pPr>
            <a:endParaRPr lang="en-US" sz="1500" dirty="0"/>
          </a:p>
          <a:p>
            <a:r>
              <a:rPr lang="en-US" b="1" dirty="0">
                <a:solidFill>
                  <a:srgbClr val="002060"/>
                </a:solidFill>
              </a:rPr>
              <a:t>Software &amp; Programming:-</a:t>
            </a:r>
          </a:p>
          <a:p>
            <a:endParaRPr lang="en-US" sz="1500" dirty="0"/>
          </a:p>
          <a:p>
            <a:pPr marL="285750" indent="-285750">
              <a:buFont typeface="Arial" panose="020B0604020202020204" pitchFamily="34" charset="0"/>
              <a:buChar char="•"/>
            </a:pPr>
            <a:r>
              <a:rPr lang="en-US" dirty="0"/>
              <a:t>Python (For sensor data processing and vehicle control)</a:t>
            </a:r>
          </a:p>
          <a:p>
            <a:pPr marL="285750" indent="-285750">
              <a:buFont typeface="Arial" panose="020B0604020202020204" pitchFamily="34" charset="0"/>
              <a:buChar char="•"/>
            </a:pPr>
            <a:r>
              <a:rPr lang="en-US" dirty="0"/>
              <a:t>Thing Speak (For remote monitoring and Data Visualization)</a:t>
            </a:r>
          </a:p>
          <a:p>
            <a:pPr marL="285750" indent="-285750">
              <a:buFont typeface="Arial" panose="020B0604020202020204" pitchFamily="34" charset="0"/>
              <a:buChar char="•"/>
            </a:pPr>
            <a:r>
              <a:rPr lang="en-US" dirty="0"/>
              <a:t>Linux OS (Running on Raspberry Pi)</a:t>
            </a:r>
          </a:p>
          <a:p>
            <a:endParaRPr lang="en-US" sz="1500" dirty="0" err="1"/>
          </a:p>
        </p:txBody>
      </p:sp>
    </p:spTree>
    <p:extLst>
      <p:ext uri="{BB962C8B-B14F-4D97-AF65-F5344CB8AC3E}">
        <p14:creationId xmlns:p14="http://schemas.microsoft.com/office/powerpoint/2010/main" val="2737249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a:xfrm>
            <a:off x="415113" y="184415"/>
            <a:ext cx="8520600" cy="572700"/>
          </a:xfrm>
        </p:spPr>
        <p:txBody>
          <a:bodyPr/>
          <a:lstStyle/>
          <a:p>
            <a:r>
              <a:rPr lang="en-IN" sz="2400" b="1" dirty="0">
                <a:solidFill>
                  <a:srgbClr val="002060"/>
                </a:solidFill>
              </a:rPr>
              <a:t>End User</a:t>
            </a:r>
          </a:p>
        </p:txBody>
      </p:sp>
      <p:sp>
        <p:nvSpPr>
          <p:cNvPr id="2" name="TextBox 1">
            <a:extLst>
              <a:ext uri="{FF2B5EF4-FFF2-40B4-BE49-F238E27FC236}">
                <a16:creationId xmlns:a16="http://schemas.microsoft.com/office/drawing/2014/main" id="{E4DFE107-59A2-D3D6-BBF1-2CC8F6D5B7F1}"/>
              </a:ext>
            </a:extLst>
          </p:cNvPr>
          <p:cNvSpPr txBox="1"/>
          <p:nvPr/>
        </p:nvSpPr>
        <p:spPr>
          <a:xfrm>
            <a:off x="125181" y="856680"/>
            <a:ext cx="4798124" cy="328404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dirty="0"/>
              <a:t>Mining Companies </a:t>
            </a:r>
            <a:r>
              <a:rPr lang="en-US" dirty="0"/>
              <a:t>– To ensure worker safety and monitor hazardous mining environments in real time.</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b="1" dirty="0"/>
              <a:t>Disaster Response Teams </a:t>
            </a:r>
            <a:r>
              <a:rPr lang="en-US" dirty="0"/>
              <a:t>– For search and rescue operations in disaster-affected areas like collapsed mines or chemical spill zones.</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b="1" dirty="0"/>
              <a:t>Environmental Agencies </a:t>
            </a:r>
            <a:r>
              <a:rPr lang="en-US" dirty="0"/>
              <a:t>– To monitor air quality, gas emissions, and atmospheric conditions in hazardous zones.</a:t>
            </a:r>
          </a:p>
        </p:txBody>
      </p:sp>
      <p:pic>
        <p:nvPicPr>
          <p:cNvPr id="4" name="Picture 3">
            <a:extLst>
              <a:ext uri="{FF2B5EF4-FFF2-40B4-BE49-F238E27FC236}">
                <a16:creationId xmlns:a16="http://schemas.microsoft.com/office/drawing/2014/main" id="{0F4CE1B6-F19A-4A14-95A8-58D045BB03BD}"/>
              </a:ext>
            </a:extLst>
          </p:cNvPr>
          <p:cNvPicPr>
            <a:picLocks noChangeAspect="1"/>
          </p:cNvPicPr>
          <p:nvPr/>
        </p:nvPicPr>
        <p:blipFill>
          <a:blip r:embed="rId3"/>
          <a:stretch>
            <a:fillRect/>
          </a:stretch>
        </p:blipFill>
        <p:spPr>
          <a:xfrm>
            <a:off x="7126624" y="1067108"/>
            <a:ext cx="2017376" cy="1431592"/>
          </a:xfrm>
          <a:prstGeom prst="rect">
            <a:avLst/>
          </a:prstGeom>
        </p:spPr>
      </p:pic>
      <p:pic>
        <p:nvPicPr>
          <p:cNvPr id="10" name="Picture 9">
            <a:extLst>
              <a:ext uri="{FF2B5EF4-FFF2-40B4-BE49-F238E27FC236}">
                <a16:creationId xmlns:a16="http://schemas.microsoft.com/office/drawing/2014/main" id="{2FE8B3C2-1337-489E-A4AA-3D755ADF77E0}"/>
              </a:ext>
            </a:extLst>
          </p:cNvPr>
          <p:cNvPicPr>
            <a:picLocks noChangeAspect="1"/>
          </p:cNvPicPr>
          <p:nvPr/>
        </p:nvPicPr>
        <p:blipFill>
          <a:blip r:embed="rId4"/>
          <a:stretch>
            <a:fillRect/>
          </a:stretch>
        </p:blipFill>
        <p:spPr>
          <a:xfrm>
            <a:off x="6918337" y="2571750"/>
            <a:ext cx="2017376" cy="1359176"/>
          </a:xfrm>
          <a:prstGeom prst="rect">
            <a:avLst/>
          </a:prstGeom>
        </p:spPr>
      </p:pic>
      <p:pic>
        <p:nvPicPr>
          <p:cNvPr id="2050" name="Picture 2" descr="The future is (still) underground - Mines Magazine">
            <a:extLst>
              <a:ext uri="{FF2B5EF4-FFF2-40B4-BE49-F238E27FC236}">
                <a16:creationId xmlns:a16="http://schemas.microsoft.com/office/drawing/2014/main" id="{621A87F4-60B0-59BD-8690-57A9BFADCE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3305" y="1067108"/>
            <a:ext cx="2146947" cy="143159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nvironmental Organisations in ...">
            <a:extLst>
              <a:ext uri="{FF2B5EF4-FFF2-40B4-BE49-F238E27FC236}">
                <a16:creationId xmlns:a16="http://schemas.microsoft.com/office/drawing/2014/main" id="{928FDD0A-F02D-01EC-9C6C-A87DEC3AB9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23305" y="2571750"/>
            <a:ext cx="1904082" cy="1359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9326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a:xfrm>
            <a:off x="311700" y="258260"/>
            <a:ext cx="8520600" cy="572700"/>
          </a:xfrm>
        </p:spPr>
        <p:txBody>
          <a:bodyPr/>
          <a:lstStyle/>
          <a:p>
            <a:r>
              <a:rPr lang="en-IN" sz="2400" b="1" dirty="0">
                <a:solidFill>
                  <a:srgbClr val="002060"/>
                </a:solidFill>
              </a:rPr>
              <a:t>Wow Factor in Solution</a:t>
            </a:r>
          </a:p>
        </p:txBody>
      </p:sp>
      <p:sp>
        <p:nvSpPr>
          <p:cNvPr id="2" name="TextBox 1">
            <a:extLst>
              <a:ext uri="{FF2B5EF4-FFF2-40B4-BE49-F238E27FC236}">
                <a16:creationId xmlns:a16="http://schemas.microsoft.com/office/drawing/2014/main" id="{3FA8390F-7A73-1EB9-E003-D976C05EB318}"/>
              </a:ext>
            </a:extLst>
          </p:cNvPr>
          <p:cNvSpPr txBox="1"/>
          <p:nvPr/>
        </p:nvSpPr>
        <p:spPr>
          <a:xfrm>
            <a:off x="145445" y="885161"/>
            <a:ext cx="5059680" cy="386259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solidFill>
                  <a:schemeClr val="tx1"/>
                </a:solidFill>
                <a:latin typeface="+mn-lt"/>
                <a:ea typeface="Canva Sans"/>
                <a:cs typeface="Canva Sans"/>
                <a:sym typeface="Canva Sans"/>
              </a:rPr>
              <a:t>Fully Remote-Controlled Exploration </a:t>
            </a:r>
          </a:p>
          <a:p>
            <a:pPr marL="285750" indent="-285750">
              <a:lnSpc>
                <a:spcPct val="150000"/>
              </a:lnSpc>
              <a:buFont typeface="Arial" panose="020B0604020202020204" pitchFamily="34" charset="0"/>
              <a:buChar char="•"/>
            </a:pPr>
            <a:endParaRPr lang="en-US" dirty="0">
              <a:solidFill>
                <a:schemeClr val="tx1"/>
              </a:solidFill>
              <a:latin typeface="+mn-lt"/>
              <a:ea typeface="Canva Sans"/>
              <a:cs typeface="Canva Sans"/>
              <a:sym typeface="Canva Sans"/>
            </a:endParaRPr>
          </a:p>
          <a:p>
            <a:pPr marL="285750" indent="-285750">
              <a:lnSpc>
                <a:spcPct val="150000"/>
              </a:lnSpc>
              <a:buFont typeface="Arial" panose="020B0604020202020204" pitchFamily="34" charset="0"/>
              <a:buChar char="•"/>
            </a:pPr>
            <a:r>
              <a:rPr lang="en-US" dirty="0">
                <a:solidFill>
                  <a:schemeClr val="tx1"/>
                </a:solidFill>
                <a:latin typeface="+mn-lt"/>
                <a:ea typeface="Canva Sans"/>
                <a:cs typeface="Canva Sans"/>
                <a:sym typeface="Canva Sans"/>
              </a:rPr>
              <a:t>Real-Time Hazard Detection &amp; Monitoring</a:t>
            </a:r>
          </a:p>
          <a:p>
            <a:pPr marL="285750" indent="-285750">
              <a:lnSpc>
                <a:spcPct val="150000"/>
              </a:lnSpc>
              <a:buFont typeface="Arial" panose="020B0604020202020204" pitchFamily="34" charset="0"/>
              <a:buChar char="•"/>
            </a:pPr>
            <a:endParaRPr lang="en-US" dirty="0">
              <a:solidFill>
                <a:schemeClr val="tx1"/>
              </a:solidFill>
              <a:latin typeface="+mn-lt"/>
              <a:ea typeface="Canva Sans"/>
              <a:cs typeface="Canva Sans"/>
              <a:sym typeface="Canva Sans"/>
            </a:endParaRPr>
          </a:p>
          <a:p>
            <a:pPr marL="285750" indent="-285750">
              <a:lnSpc>
                <a:spcPct val="150000"/>
              </a:lnSpc>
              <a:buFont typeface="Arial" panose="020B0604020202020204" pitchFamily="34" charset="0"/>
              <a:buChar char="•"/>
            </a:pPr>
            <a:r>
              <a:rPr lang="en-US" dirty="0">
                <a:solidFill>
                  <a:schemeClr val="tx1"/>
                </a:solidFill>
                <a:latin typeface="+mn-lt"/>
                <a:ea typeface="Canva Sans"/>
                <a:cs typeface="Canva Sans"/>
                <a:sym typeface="Canva Sans"/>
              </a:rPr>
              <a:t>IoT-Enabled Smart Sensing</a:t>
            </a:r>
          </a:p>
          <a:p>
            <a:pPr marL="285750" indent="-285750">
              <a:lnSpc>
                <a:spcPct val="150000"/>
              </a:lnSpc>
              <a:buFont typeface="Arial" panose="020B0604020202020204" pitchFamily="34" charset="0"/>
              <a:buChar char="•"/>
            </a:pPr>
            <a:endParaRPr lang="en-US" dirty="0">
              <a:solidFill>
                <a:schemeClr val="tx1"/>
              </a:solidFill>
              <a:latin typeface="+mn-lt"/>
              <a:ea typeface="Canva Sans"/>
              <a:cs typeface="Canva Sans"/>
              <a:sym typeface="Canva Sans"/>
            </a:endParaRPr>
          </a:p>
          <a:p>
            <a:pPr marL="285750" indent="-285750">
              <a:lnSpc>
                <a:spcPct val="150000"/>
              </a:lnSpc>
              <a:buFont typeface="Arial" panose="020B0604020202020204" pitchFamily="34" charset="0"/>
              <a:buChar char="•"/>
            </a:pPr>
            <a:r>
              <a:rPr lang="en-US" dirty="0">
                <a:solidFill>
                  <a:schemeClr val="tx1"/>
                </a:solidFill>
                <a:latin typeface="+mn-lt"/>
                <a:ea typeface="Canva Sans"/>
                <a:cs typeface="Canva Sans"/>
                <a:sym typeface="Canva Sans"/>
              </a:rPr>
              <a:t>Versatile Applications Beyond Mining</a:t>
            </a:r>
          </a:p>
          <a:p>
            <a:pPr marL="285750" indent="-285750">
              <a:lnSpc>
                <a:spcPct val="150000"/>
              </a:lnSpc>
              <a:buFont typeface="Arial" panose="020B0604020202020204" pitchFamily="34" charset="0"/>
              <a:buChar char="•"/>
            </a:pPr>
            <a:endParaRPr lang="en-US" dirty="0">
              <a:solidFill>
                <a:schemeClr val="tx1"/>
              </a:solidFill>
              <a:latin typeface="+mn-lt"/>
              <a:ea typeface="Canva Sans"/>
              <a:cs typeface="Canva Sans"/>
              <a:sym typeface="Canva Sans"/>
            </a:endParaRPr>
          </a:p>
          <a:p>
            <a:pPr marL="285750" indent="-285750">
              <a:lnSpc>
                <a:spcPct val="150000"/>
              </a:lnSpc>
              <a:buFont typeface="Arial" panose="020B0604020202020204" pitchFamily="34" charset="0"/>
              <a:buChar char="•"/>
            </a:pPr>
            <a:r>
              <a:rPr lang="en-US" dirty="0">
                <a:solidFill>
                  <a:schemeClr val="tx1"/>
                </a:solidFill>
                <a:latin typeface="+mn-lt"/>
                <a:ea typeface="Canva Sans"/>
                <a:cs typeface="Canva Sans"/>
                <a:sym typeface="Canva Sans"/>
              </a:rPr>
              <a:t>Cost-Effective &amp; Scalable Solution </a:t>
            </a:r>
          </a:p>
          <a:p>
            <a:pPr marL="285750" indent="-285750">
              <a:lnSpc>
                <a:spcPct val="150000"/>
              </a:lnSpc>
              <a:buFont typeface="Arial" panose="020B0604020202020204" pitchFamily="34" charset="0"/>
              <a:buChar char="•"/>
            </a:pPr>
            <a:r>
              <a:rPr lang="en-US" dirty="0">
                <a:solidFill>
                  <a:schemeClr val="tx1"/>
                </a:solidFill>
                <a:latin typeface="+mn-lt"/>
                <a:ea typeface="Canva Sans"/>
                <a:cs typeface="Canva Sans"/>
                <a:sym typeface="Canva Sans"/>
              </a:rPr>
              <a:t> </a:t>
            </a:r>
          </a:p>
          <a:p>
            <a:pPr marL="285750" indent="-285750">
              <a:lnSpc>
                <a:spcPct val="150000"/>
              </a:lnSpc>
              <a:buFont typeface="Arial" panose="020B0604020202020204" pitchFamily="34" charset="0"/>
              <a:buChar char="•"/>
            </a:pPr>
            <a:r>
              <a:rPr lang="en-US" dirty="0">
                <a:solidFill>
                  <a:schemeClr val="tx1"/>
                </a:solidFill>
                <a:latin typeface="+mn-lt"/>
                <a:ea typeface="Canva Sans"/>
                <a:cs typeface="Canva Sans"/>
                <a:sym typeface="Canva Sans"/>
              </a:rPr>
              <a:t>Enhanced Worker Safety </a:t>
            </a:r>
          </a:p>
          <a:p>
            <a:pPr marL="285750" indent="-285750">
              <a:buFont typeface="Arial" panose="020B0604020202020204" pitchFamily="34" charset="0"/>
              <a:buChar char="•"/>
            </a:pPr>
            <a:endParaRPr lang="en-IN" dirty="0"/>
          </a:p>
        </p:txBody>
      </p:sp>
      <p:pic>
        <p:nvPicPr>
          <p:cNvPr id="4" name="Picture 3">
            <a:extLst>
              <a:ext uri="{FF2B5EF4-FFF2-40B4-BE49-F238E27FC236}">
                <a16:creationId xmlns:a16="http://schemas.microsoft.com/office/drawing/2014/main" id="{8C939FCD-2CF8-A1A8-2E1E-A282DCB7ED75}"/>
              </a:ext>
            </a:extLst>
          </p:cNvPr>
          <p:cNvPicPr>
            <a:picLocks noChangeAspect="1"/>
          </p:cNvPicPr>
          <p:nvPr/>
        </p:nvPicPr>
        <p:blipFill>
          <a:blip r:embed="rId2"/>
          <a:stretch>
            <a:fillRect/>
          </a:stretch>
        </p:blipFill>
        <p:spPr>
          <a:xfrm>
            <a:off x="6419089" y="830960"/>
            <a:ext cx="2413211" cy="1484759"/>
          </a:xfrm>
          <a:prstGeom prst="rect">
            <a:avLst/>
          </a:prstGeom>
          <a:ln>
            <a:noFill/>
          </a:ln>
          <a:effectLst>
            <a:softEdge rad="112500"/>
          </a:effectLst>
        </p:spPr>
      </p:pic>
      <p:pic>
        <p:nvPicPr>
          <p:cNvPr id="3076" name="Picture 4" descr="Remote Control Shark - BuzzerFish – BUZZERFISH">
            <a:extLst>
              <a:ext uri="{FF2B5EF4-FFF2-40B4-BE49-F238E27FC236}">
                <a16:creationId xmlns:a16="http://schemas.microsoft.com/office/drawing/2014/main" id="{CF084184-E43D-07E7-0F02-CD5A59045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710047"/>
            <a:ext cx="1690413" cy="1690413"/>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afe mining practice: 12 more tips">
            <a:extLst>
              <a:ext uri="{FF2B5EF4-FFF2-40B4-BE49-F238E27FC236}">
                <a16:creationId xmlns:a16="http://schemas.microsoft.com/office/drawing/2014/main" id="{D792ED9E-E58A-3205-A905-0A0FF87845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9491" y="2571750"/>
            <a:ext cx="2804260" cy="1577396"/>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Choosing the Best Data Storage Option: Cloud Cost Optimization | Buffalo  Americas">
            <a:extLst>
              <a:ext uri="{FF2B5EF4-FFF2-40B4-BE49-F238E27FC236}">
                <a16:creationId xmlns:a16="http://schemas.microsoft.com/office/drawing/2014/main" id="{BBBD8286-7B2F-FF7F-7701-396881F764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56502" y="2571749"/>
            <a:ext cx="1842053" cy="1577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4308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A76F20-6E2C-4C7B-BFCF-A73AFA1F084C}"/>
              </a:ext>
            </a:extLst>
          </p:cNvPr>
          <p:cNvSpPr txBox="1"/>
          <p:nvPr/>
        </p:nvSpPr>
        <p:spPr>
          <a:xfrm>
            <a:off x="624568" y="821249"/>
            <a:ext cx="2506435" cy="307777"/>
          </a:xfrm>
          <a:prstGeom prst="rect">
            <a:avLst/>
          </a:prstGeom>
          <a:noFill/>
        </p:spPr>
        <p:txBody>
          <a:bodyPr wrap="square" rtlCol="0">
            <a:spAutoFit/>
          </a:bodyPr>
          <a:lstStyle/>
          <a:p>
            <a:r>
              <a:rPr lang="en-US" b="1" dirty="0">
                <a:solidFill>
                  <a:srgbClr val="002060"/>
                </a:solidFill>
              </a:rPr>
              <a:t>Flowchart </a:t>
            </a:r>
            <a:endParaRPr lang="en-IN" b="1" dirty="0">
              <a:solidFill>
                <a:srgbClr val="002060"/>
              </a:solidFill>
            </a:endParaRPr>
          </a:p>
        </p:txBody>
      </p:sp>
      <p:sp>
        <p:nvSpPr>
          <p:cNvPr id="6" name="TextBox 5">
            <a:extLst>
              <a:ext uri="{FF2B5EF4-FFF2-40B4-BE49-F238E27FC236}">
                <a16:creationId xmlns:a16="http://schemas.microsoft.com/office/drawing/2014/main" id="{79E33408-D424-49ED-897E-4E36971A0560}"/>
              </a:ext>
            </a:extLst>
          </p:cNvPr>
          <p:cNvSpPr txBox="1"/>
          <p:nvPr/>
        </p:nvSpPr>
        <p:spPr>
          <a:xfrm>
            <a:off x="1877786" y="2016579"/>
            <a:ext cx="5257800" cy="1869621"/>
          </a:xfrm>
          <a:prstGeom prst="rect">
            <a:avLst/>
          </a:prstGeom>
          <a:noFill/>
        </p:spPr>
        <p:txBody>
          <a:bodyPr wrap="square" rtlCol="0">
            <a:spAutoFit/>
          </a:bodyPr>
          <a:lstStyle/>
          <a:p>
            <a:endParaRPr lang="en-IN" dirty="0"/>
          </a:p>
        </p:txBody>
      </p:sp>
      <p:sp>
        <p:nvSpPr>
          <p:cNvPr id="9" name="TextBox 8">
            <a:extLst>
              <a:ext uri="{FF2B5EF4-FFF2-40B4-BE49-F238E27FC236}">
                <a16:creationId xmlns:a16="http://schemas.microsoft.com/office/drawing/2014/main" id="{68465E60-B02F-43FD-AAD5-84D5664F4B4A}"/>
              </a:ext>
            </a:extLst>
          </p:cNvPr>
          <p:cNvSpPr txBox="1"/>
          <p:nvPr/>
        </p:nvSpPr>
        <p:spPr>
          <a:xfrm>
            <a:off x="432043" y="164850"/>
            <a:ext cx="2506435" cy="461665"/>
          </a:xfrm>
          <a:prstGeom prst="rect">
            <a:avLst/>
          </a:prstGeom>
          <a:noFill/>
        </p:spPr>
        <p:txBody>
          <a:bodyPr wrap="square" rtlCol="0">
            <a:spAutoFit/>
          </a:bodyPr>
          <a:lstStyle/>
          <a:p>
            <a:r>
              <a:rPr lang="en-US" sz="2400" b="1" dirty="0">
                <a:solidFill>
                  <a:srgbClr val="002060"/>
                </a:solidFill>
              </a:rPr>
              <a:t>Modelling</a:t>
            </a:r>
            <a:endParaRPr lang="en-IN" sz="2400" b="1" dirty="0">
              <a:solidFill>
                <a:srgbClr val="002060"/>
              </a:solidFill>
            </a:endParaRPr>
          </a:p>
        </p:txBody>
      </p:sp>
      <p:pic>
        <p:nvPicPr>
          <p:cNvPr id="13" name="Picture 12">
            <a:extLst>
              <a:ext uri="{FF2B5EF4-FFF2-40B4-BE49-F238E27FC236}">
                <a16:creationId xmlns:a16="http://schemas.microsoft.com/office/drawing/2014/main" id="{B06A2729-238E-46FC-BB2A-FC78EA5E86A3}"/>
              </a:ext>
            </a:extLst>
          </p:cNvPr>
          <p:cNvPicPr>
            <a:picLocks noChangeAspect="1"/>
          </p:cNvPicPr>
          <p:nvPr/>
        </p:nvPicPr>
        <p:blipFill>
          <a:blip r:embed="rId2"/>
          <a:stretch>
            <a:fillRect/>
          </a:stretch>
        </p:blipFill>
        <p:spPr>
          <a:xfrm>
            <a:off x="5742845" y="1301938"/>
            <a:ext cx="3046737" cy="3674580"/>
          </a:xfrm>
          <a:prstGeom prst="rect">
            <a:avLst/>
          </a:prstGeom>
        </p:spPr>
      </p:pic>
      <p:pic>
        <p:nvPicPr>
          <p:cNvPr id="10" name="Picture 9">
            <a:extLst>
              <a:ext uri="{FF2B5EF4-FFF2-40B4-BE49-F238E27FC236}">
                <a16:creationId xmlns:a16="http://schemas.microsoft.com/office/drawing/2014/main" id="{D8460452-4044-4944-935D-FC90D0A46706}"/>
              </a:ext>
            </a:extLst>
          </p:cNvPr>
          <p:cNvPicPr>
            <a:picLocks noChangeAspect="1"/>
          </p:cNvPicPr>
          <p:nvPr/>
        </p:nvPicPr>
        <p:blipFill>
          <a:blip r:embed="rId3"/>
          <a:stretch>
            <a:fillRect/>
          </a:stretch>
        </p:blipFill>
        <p:spPr>
          <a:xfrm>
            <a:off x="636814" y="1332458"/>
            <a:ext cx="4717500" cy="3456221"/>
          </a:xfrm>
          <a:prstGeom prst="rect">
            <a:avLst/>
          </a:prstGeom>
        </p:spPr>
      </p:pic>
      <p:sp>
        <p:nvSpPr>
          <p:cNvPr id="2" name="TextBox 1">
            <a:extLst>
              <a:ext uri="{FF2B5EF4-FFF2-40B4-BE49-F238E27FC236}">
                <a16:creationId xmlns:a16="http://schemas.microsoft.com/office/drawing/2014/main" id="{1F703472-F6C5-36C4-1840-927F9135B583}"/>
              </a:ext>
            </a:extLst>
          </p:cNvPr>
          <p:cNvSpPr txBox="1"/>
          <p:nvPr/>
        </p:nvSpPr>
        <p:spPr>
          <a:xfrm>
            <a:off x="5882368" y="822178"/>
            <a:ext cx="2506435" cy="307777"/>
          </a:xfrm>
          <a:prstGeom prst="rect">
            <a:avLst/>
          </a:prstGeom>
          <a:noFill/>
        </p:spPr>
        <p:txBody>
          <a:bodyPr wrap="square" rtlCol="0">
            <a:spAutoFit/>
          </a:bodyPr>
          <a:lstStyle/>
          <a:p>
            <a:r>
              <a:rPr lang="en-US" b="1" dirty="0">
                <a:solidFill>
                  <a:srgbClr val="002060"/>
                </a:solidFill>
              </a:rPr>
              <a:t>Workflow</a:t>
            </a:r>
            <a:endParaRPr lang="en-IN" b="1" dirty="0">
              <a:solidFill>
                <a:srgbClr val="002060"/>
              </a:solidFill>
            </a:endParaRPr>
          </a:p>
        </p:txBody>
      </p:sp>
    </p:spTree>
    <p:extLst>
      <p:ext uri="{BB962C8B-B14F-4D97-AF65-F5344CB8AC3E}">
        <p14:creationId xmlns:p14="http://schemas.microsoft.com/office/powerpoint/2010/main" val="839997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B58F8-CC97-450E-8CC9-AEA298CBAE7B}"/>
              </a:ext>
            </a:extLst>
          </p:cNvPr>
          <p:cNvSpPr>
            <a:spLocks noGrp="1"/>
          </p:cNvSpPr>
          <p:nvPr>
            <p:ph type="title"/>
          </p:nvPr>
        </p:nvSpPr>
        <p:spPr>
          <a:xfrm>
            <a:off x="442329" y="712279"/>
            <a:ext cx="2127059" cy="403020"/>
          </a:xfrm>
        </p:spPr>
        <p:txBody>
          <a:bodyPr/>
          <a:lstStyle/>
          <a:p>
            <a:pPr algn="l"/>
            <a:r>
              <a:rPr lang="en-US" sz="1400" b="1" dirty="0">
                <a:solidFill>
                  <a:srgbClr val="002060"/>
                </a:solidFill>
              </a:rPr>
              <a:t>Circuit Model</a:t>
            </a:r>
            <a:endParaRPr lang="en-IN" sz="1400" b="1" dirty="0">
              <a:solidFill>
                <a:srgbClr val="002060"/>
              </a:solidFill>
            </a:endParaRPr>
          </a:p>
        </p:txBody>
      </p:sp>
      <p:pic>
        <p:nvPicPr>
          <p:cNvPr id="5" name="Picture 4">
            <a:extLst>
              <a:ext uri="{FF2B5EF4-FFF2-40B4-BE49-F238E27FC236}">
                <a16:creationId xmlns:a16="http://schemas.microsoft.com/office/drawing/2014/main" id="{96969301-7120-4724-9F59-9AB2AD3B5AB1}"/>
              </a:ext>
            </a:extLst>
          </p:cNvPr>
          <p:cNvPicPr>
            <a:picLocks noChangeAspect="1"/>
          </p:cNvPicPr>
          <p:nvPr/>
        </p:nvPicPr>
        <p:blipFill>
          <a:blip r:embed="rId2"/>
          <a:stretch>
            <a:fillRect/>
          </a:stretch>
        </p:blipFill>
        <p:spPr>
          <a:xfrm>
            <a:off x="442329" y="1150876"/>
            <a:ext cx="7551964" cy="3576534"/>
          </a:xfrm>
          <a:prstGeom prst="rect">
            <a:avLst/>
          </a:prstGeom>
        </p:spPr>
      </p:pic>
      <p:sp>
        <p:nvSpPr>
          <p:cNvPr id="3" name="TextBox 2">
            <a:extLst>
              <a:ext uri="{FF2B5EF4-FFF2-40B4-BE49-F238E27FC236}">
                <a16:creationId xmlns:a16="http://schemas.microsoft.com/office/drawing/2014/main" id="{64AF3225-0FB4-BFBE-0DD9-05104BE0007E}"/>
              </a:ext>
            </a:extLst>
          </p:cNvPr>
          <p:cNvSpPr txBox="1"/>
          <p:nvPr/>
        </p:nvSpPr>
        <p:spPr>
          <a:xfrm>
            <a:off x="432043" y="164850"/>
            <a:ext cx="2506435" cy="461665"/>
          </a:xfrm>
          <a:prstGeom prst="rect">
            <a:avLst/>
          </a:prstGeom>
          <a:noFill/>
        </p:spPr>
        <p:txBody>
          <a:bodyPr wrap="square" rtlCol="0">
            <a:spAutoFit/>
          </a:bodyPr>
          <a:lstStyle/>
          <a:p>
            <a:r>
              <a:rPr lang="en-US" sz="2400" b="1" dirty="0">
                <a:solidFill>
                  <a:srgbClr val="002060"/>
                </a:solidFill>
              </a:rPr>
              <a:t>Modelling</a:t>
            </a:r>
            <a:endParaRPr lang="en-IN" sz="2400" b="1" dirty="0">
              <a:solidFill>
                <a:srgbClr val="002060"/>
              </a:solidFill>
            </a:endParaRPr>
          </a:p>
        </p:txBody>
      </p:sp>
    </p:spTree>
    <p:extLst>
      <p:ext uri="{BB962C8B-B14F-4D97-AF65-F5344CB8AC3E}">
        <p14:creationId xmlns:p14="http://schemas.microsoft.com/office/powerpoint/2010/main" val="640343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a:xfrm>
            <a:off x="311700" y="281802"/>
            <a:ext cx="8520600" cy="572700"/>
          </a:xfrm>
        </p:spPr>
        <p:txBody>
          <a:bodyPr/>
          <a:lstStyle/>
          <a:p>
            <a:r>
              <a:rPr lang="en-IN" sz="2400" b="1" dirty="0">
                <a:solidFill>
                  <a:srgbClr val="002060"/>
                </a:solidFill>
              </a:rPr>
              <a:t>Result</a:t>
            </a:r>
            <a:endParaRPr lang="en-US" b="1" dirty="0"/>
          </a:p>
        </p:txBody>
      </p:sp>
      <p:sp>
        <p:nvSpPr>
          <p:cNvPr id="3" name="TextBox 2">
            <a:extLst>
              <a:ext uri="{FF2B5EF4-FFF2-40B4-BE49-F238E27FC236}">
                <a16:creationId xmlns:a16="http://schemas.microsoft.com/office/drawing/2014/main" id="{84C9779F-B106-3DA8-C384-9B4AF344A9C3}"/>
              </a:ext>
            </a:extLst>
          </p:cNvPr>
          <p:cNvSpPr txBox="1"/>
          <p:nvPr/>
        </p:nvSpPr>
        <p:spPr>
          <a:xfrm>
            <a:off x="300914" y="653742"/>
            <a:ext cx="4271086" cy="4204549"/>
          </a:xfrm>
          <a:prstGeom prst="rect">
            <a:avLst/>
          </a:prstGeom>
          <a:noFill/>
        </p:spPr>
        <p:txBody>
          <a:bodyPr wrap="square" rtlCol="0">
            <a:spAutoFit/>
          </a:bodyPr>
          <a:lstStyle/>
          <a:p>
            <a:pPr algn="just">
              <a:lnSpc>
                <a:spcPct val="150000"/>
              </a:lnSpc>
            </a:pPr>
            <a:endParaRPr lang="en-US" sz="1500" dirty="0"/>
          </a:p>
          <a:p>
            <a:pPr marL="285750" indent="-285750" algn="just">
              <a:lnSpc>
                <a:spcPct val="150000"/>
              </a:lnSpc>
              <a:buFont typeface="Arial" panose="020B0604020202020204" pitchFamily="34" charset="0"/>
              <a:buChar char="•"/>
            </a:pPr>
            <a:r>
              <a:rPr lang="en-US" sz="1500" dirty="0"/>
              <a:t> Controlled remotely via IDE commands, ensuring safe exploration.</a:t>
            </a:r>
          </a:p>
          <a:p>
            <a:pPr marL="285750" indent="-285750" algn="just">
              <a:lnSpc>
                <a:spcPct val="150000"/>
              </a:lnSpc>
              <a:buFont typeface="Arial" panose="020B0604020202020204" pitchFamily="34" charset="0"/>
              <a:buChar char="•"/>
            </a:pPr>
            <a:r>
              <a:rPr lang="en-US" sz="1500" dirty="0"/>
              <a:t>Live data transmission from temperature, methane, CO, and barometric sensors.</a:t>
            </a:r>
          </a:p>
          <a:p>
            <a:pPr marL="285750" indent="-285750" algn="just">
              <a:lnSpc>
                <a:spcPct val="150000"/>
              </a:lnSpc>
              <a:buFont typeface="Arial" panose="020B0604020202020204" pitchFamily="34" charset="0"/>
              <a:buChar char="•"/>
            </a:pPr>
            <a:r>
              <a:rPr lang="en-US" sz="1500" dirty="0"/>
              <a:t> Alerts triggered for toxic gas presence, extreme temperatures, and unstable conditions.</a:t>
            </a:r>
          </a:p>
          <a:p>
            <a:pPr marL="285750" indent="-285750" algn="just">
              <a:lnSpc>
                <a:spcPct val="150000"/>
              </a:lnSpc>
              <a:buFont typeface="Arial" panose="020B0604020202020204" pitchFamily="34" charset="0"/>
              <a:buChar char="•"/>
            </a:pPr>
            <a:r>
              <a:rPr lang="en-US" sz="1500" dirty="0"/>
              <a:t> Seamless IoT connectivity, ensuring uninterrupted monitoring.</a:t>
            </a:r>
          </a:p>
          <a:p>
            <a:pPr marL="285750" indent="-285750" algn="just">
              <a:lnSpc>
                <a:spcPct val="150000"/>
              </a:lnSpc>
              <a:buFont typeface="Arial" panose="020B0604020202020204" pitchFamily="34" charset="0"/>
              <a:buChar char="•"/>
            </a:pPr>
            <a:r>
              <a:rPr lang="en-US" sz="1500" dirty="0"/>
              <a:t> Minimized human exposure to hazardous environments.</a:t>
            </a:r>
          </a:p>
        </p:txBody>
      </p:sp>
      <p:pic>
        <p:nvPicPr>
          <p:cNvPr id="6" name="Picture 5">
            <a:extLst>
              <a:ext uri="{FF2B5EF4-FFF2-40B4-BE49-F238E27FC236}">
                <a16:creationId xmlns:a16="http://schemas.microsoft.com/office/drawing/2014/main" id="{68D9899F-E229-4796-9D8F-F87137E908B6}"/>
              </a:ext>
            </a:extLst>
          </p:cNvPr>
          <p:cNvPicPr>
            <a:picLocks noChangeAspect="1"/>
          </p:cNvPicPr>
          <p:nvPr/>
        </p:nvPicPr>
        <p:blipFill>
          <a:blip r:embed="rId2"/>
          <a:stretch>
            <a:fillRect/>
          </a:stretch>
        </p:blipFill>
        <p:spPr>
          <a:xfrm>
            <a:off x="4702630" y="1055261"/>
            <a:ext cx="4334162" cy="2804169"/>
          </a:xfrm>
          <a:prstGeom prst="rect">
            <a:avLst/>
          </a:prstGeom>
        </p:spPr>
      </p:pic>
    </p:spTree>
    <p:extLst>
      <p:ext uri="{BB962C8B-B14F-4D97-AF65-F5344CB8AC3E}">
        <p14:creationId xmlns:p14="http://schemas.microsoft.com/office/powerpoint/2010/main" val="2016077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0F604C-FFB8-C12B-DD4F-6924521BA632}"/>
              </a:ext>
            </a:extLst>
          </p:cNvPr>
          <p:cNvSpPr txBox="1"/>
          <p:nvPr/>
        </p:nvSpPr>
        <p:spPr>
          <a:xfrm>
            <a:off x="454726" y="148582"/>
            <a:ext cx="4572000" cy="461665"/>
          </a:xfrm>
          <a:prstGeom prst="rect">
            <a:avLst/>
          </a:prstGeom>
          <a:noFill/>
        </p:spPr>
        <p:txBody>
          <a:bodyPr wrap="square">
            <a:spAutoFit/>
          </a:bodyPr>
          <a:lstStyle/>
          <a:p>
            <a:r>
              <a:rPr lang="en-IN" sz="2400" b="1" dirty="0">
                <a:solidFill>
                  <a:srgbClr val="002060"/>
                </a:solidFill>
              </a:rPr>
              <a:t>Outcomes</a:t>
            </a:r>
            <a:endParaRPr lang="en-IN" sz="2400" dirty="0"/>
          </a:p>
        </p:txBody>
      </p:sp>
      <p:pic>
        <p:nvPicPr>
          <p:cNvPr id="9" name="Picture 8">
            <a:extLst>
              <a:ext uri="{FF2B5EF4-FFF2-40B4-BE49-F238E27FC236}">
                <a16:creationId xmlns:a16="http://schemas.microsoft.com/office/drawing/2014/main" id="{6581FE44-4AF4-4A2B-A502-64850576F582}"/>
              </a:ext>
            </a:extLst>
          </p:cNvPr>
          <p:cNvPicPr>
            <a:picLocks noChangeAspect="1"/>
          </p:cNvPicPr>
          <p:nvPr/>
        </p:nvPicPr>
        <p:blipFill>
          <a:blip r:embed="rId2"/>
          <a:stretch>
            <a:fillRect/>
          </a:stretch>
        </p:blipFill>
        <p:spPr>
          <a:xfrm>
            <a:off x="454726" y="734773"/>
            <a:ext cx="3878035" cy="2057400"/>
          </a:xfrm>
          <a:prstGeom prst="rect">
            <a:avLst/>
          </a:prstGeom>
        </p:spPr>
      </p:pic>
      <p:pic>
        <p:nvPicPr>
          <p:cNvPr id="11" name="Picture 10">
            <a:extLst>
              <a:ext uri="{FF2B5EF4-FFF2-40B4-BE49-F238E27FC236}">
                <a16:creationId xmlns:a16="http://schemas.microsoft.com/office/drawing/2014/main" id="{9B6E9B7D-18F8-46A2-A0F4-B31768C6FE18}"/>
              </a:ext>
            </a:extLst>
          </p:cNvPr>
          <p:cNvPicPr>
            <a:picLocks noChangeAspect="1"/>
          </p:cNvPicPr>
          <p:nvPr/>
        </p:nvPicPr>
        <p:blipFill>
          <a:blip r:embed="rId3"/>
          <a:stretch>
            <a:fillRect/>
          </a:stretch>
        </p:blipFill>
        <p:spPr>
          <a:xfrm>
            <a:off x="4398735" y="734773"/>
            <a:ext cx="4418693" cy="2057400"/>
          </a:xfrm>
          <a:prstGeom prst="rect">
            <a:avLst/>
          </a:prstGeom>
        </p:spPr>
      </p:pic>
      <p:sp>
        <p:nvSpPr>
          <p:cNvPr id="2" name="TextBox 1">
            <a:extLst>
              <a:ext uri="{FF2B5EF4-FFF2-40B4-BE49-F238E27FC236}">
                <a16:creationId xmlns:a16="http://schemas.microsoft.com/office/drawing/2014/main" id="{4CD48970-61D7-4129-877D-7CF661093AB2}"/>
              </a:ext>
            </a:extLst>
          </p:cNvPr>
          <p:cNvSpPr txBox="1"/>
          <p:nvPr/>
        </p:nvSpPr>
        <p:spPr>
          <a:xfrm>
            <a:off x="129077" y="4687141"/>
            <a:ext cx="2704808" cy="307777"/>
          </a:xfrm>
          <a:prstGeom prst="rect">
            <a:avLst/>
          </a:prstGeom>
          <a:noFill/>
        </p:spPr>
        <p:txBody>
          <a:bodyPr wrap="square" rtlCol="0">
            <a:spAutoFit/>
          </a:bodyPr>
          <a:lstStyle/>
          <a:p>
            <a:r>
              <a:rPr lang="en-US" dirty="0"/>
              <a:t>Link:- </a:t>
            </a:r>
            <a:r>
              <a:rPr lang="en-US" dirty="0">
                <a:hlinkClick r:id="rId4"/>
              </a:rPr>
              <a:t>Project Demo Video Link </a:t>
            </a:r>
            <a:endParaRPr lang="en-IN" dirty="0"/>
          </a:p>
        </p:txBody>
      </p:sp>
    </p:spTree>
    <p:extLst>
      <p:ext uri="{BB962C8B-B14F-4D97-AF65-F5344CB8AC3E}">
        <p14:creationId xmlns:p14="http://schemas.microsoft.com/office/powerpoint/2010/main" val="1553965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a:xfrm>
            <a:off x="489103" y="174348"/>
            <a:ext cx="8520600" cy="572700"/>
          </a:xfrm>
        </p:spPr>
        <p:txBody>
          <a:bodyPr/>
          <a:lstStyle/>
          <a:p>
            <a:r>
              <a:rPr lang="en-IN" sz="2400" b="1" dirty="0">
                <a:solidFill>
                  <a:srgbClr val="002060"/>
                </a:solidFill>
              </a:rPr>
              <a:t>Conclusion</a:t>
            </a:r>
          </a:p>
        </p:txBody>
      </p:sp>
      <p:sp>
        <p:nvSpPr>
          <p:cNvPr id="3" name="TextBox 2">
            <a:extLst>
              <a:ext uri="{FF2B5EF4-FFF2-40B4-BE49-F238E27FC236}">
                <a16:creationId xmlns:a16="http://schemas.microsoft.com/office/drawing/2014/main" id="{2E5220F9-4D8B-5865-7DD9-A20B0B2759FA}"/>
              </a:ext>
            </a:extLst>
          </p:cNvPr>
          <p:cNvSpPr txBox="1"/>
          <p:nvPr/>
        </p:nvSpPr>
        <p:spPr>
          <a:xfrm>
            <a:off x="254835" y="838169"/>
            <a:ext cx="7846295" cy="4204549"/>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500" b="1" dirty="0"/>
              <a:t>Safe and Efficient Exploration </a:t>
            </a:r>
            <a:r>
              <a:rPr lang="en-US" sz="1500" dirty="0"/>
              <a:t>– Minimizes risks by allowing remote operation.</a:t>
            </a:r>
          </a:p>
          <a:p>
            <a:pPr marL="285750" indent="-285750" algn="just">
              <a:lnSpc>
                <a:spcPct val="150000"/>
              </a:lnSpc>
              <a:buFont typeface="Arial" panose="020B0604020202020204" pitchFamily="34" charset="0"/>
              <a:buChar char="•"/>
            </a:pPr>
            <a:endParaRPr lang="en-US" sz="1500" dirty="0"/>
          </a:p>
          <a:p>
            <a:pPr marL="285750" indent="-285750" algn="just">
              <a:lnSpc>
                <a:spcPct val="150000"/>
              </a:lnSpc>
              <a:buFont typeface="Arial" panose="020B0604020202020204" pitchFamily="34" charset="0"/>
              <a:buChar char="•"/>
            </a:pPr>
            <a:r>
              <a:rPr lang="en-US" sz="1500" b="1" dirty="0"/>
              <a:t>Real-Time Hazard Detection </a:t>
            </a:r>
            <a:r>
              <a:rPr lang="en-US" sz="1500" dirty="0"/>
              <a:t>– Instantly detects toxic gases, temperature fluctuations, and pressure changes.</a:t>
            </a:r>
          </a:p>
          <a:p>
            <a:pPr marL="285750" indent="-285750" algn="just">
              <a:lnSpc>
                <a:spcPct val="150000"/>
              </a:lnSpc>
              <a:buFont typeface="Arial" panose="020B0604020202020204" pitchFamily="34" charset="0"/>
              <a:buChar char="•"/>
            </a:pPr>
            <a:endParaRPr lang="en-US" sz="1500" dirty="0"/>
          </a:p>
          <a:p>
            <a:pPr marL="285750" indent="-285750" algn="just">
              <a:lnSpc>
                <a:spcPct val="150000"/>
              </a:lnSpc>
              <a:buFont typeface="Arial" panose="020B0604020202020204" pitchFamily="34" charset="0"/>
              <a:buChar char="•"/>
            </a:pPr>
            <a:r>
              <a:rPr lang="en-US" sz="1500" dirty="0"/>
              <a:t> </a:t>
            </a:r>
            <a:r>
              <a:rPr lang="en-US" sz="1500" b="1" dirty="0"/>
              <a:t>Seamless IoT Integration </a:t>
            </a:r>
            <a:r>
              <a:rPr lang="en-US" sz="1500" dirty="0"/>
              <a:t>– Ensures stable data transmission for better decision-making.</a:t>
            </a:r>
          </a:p>
          <a:p>
            <a:pPr marL="285750" indent="-285750" algn="just">
              <a:lnSpc>
                <a:spcPct val="150000"/>
              </a:lnSpc>
              <a:buFont typeface="Arial" panose="020B0604020202020204" pitchFamily="34" charset="0"/>
              <a:buChar char="•"/>
            </a:pPr>
            <a:endParaRPr lang="en-US" sz="1500" dirty="0"/>
          </a:p>
          <a:p>
            <a:pPr marL="285750" indent="-285750" algn="just">
              <a:lnSpc>
                <a:spcPct val="150000"/>
              </a:lnSpc>
              <a:buFont typeface="Arial" panose="020B0604020202020204" pitchFamily="34" charset="0"/>
              <a:buChar char="•"/>
            </a:pPr>
            <a:r>
              <a:rPr lang="en-US" sz="1500" dirty="0"/>
              <a:t> </a:t>
            </a:r>
            <a:r>
              <a:rPr lang="en-US" sz="1500" b="1" dirty="0"/>
              <a:t>Scalability for Future Enhancements </a:t>
            </a:r>
            <a:r>
              <a:rPr lang="en-US" sz="1500" dirty="0"/>
              <a:t>– Can be upgraded with AI, automation, and data storage for predictive analysis.</a:t>
            </a:r>
          </a:p>
          <a:p>
            <a:pPr marL="285750" indent="-285750" algn="just">
              <a:lnSpc>
                <a:spcPct val="150000"/>
              </a:lnSpc>
              <a:buFont typeface="Arial" panose="020B0604020202020204" pitchFamily="34" charset="0"/>
              <a:buChar char="•"/>
            </a:pPr>
            <a:endParaRPr lang="en-US" sz="1500" dirty="0"/>
          </a:p>
          <a:p>
            <a:pPr marL="285750" indent="-285750" algn="just">
              <a:lnSpc>
                <a:spcPct val="150000"/>
              </a:lnSpc>
              <a:buFont typeface="Arial" panose="020B0604020202020204" pitchFamily="34" charset="0"/>
              <a:buChar char="•"/>
            </a:pPr>
            <a:endParaRPr lang="en-IN" sz="1500" dirty="0"/>
          </a:p>
        </p:txBody>
      </p:sp>
    </p:spTree>
    <p:extLst>
      <p:ext uri="{BB962C8B-B14F-4D97-AF65-F5344CB8AC3E}">
        <p14:creationId xmlns:p14="http://schemas.microsoft.com/office/powerpoint/2010/main" val="1730388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CC6F57-5A1A-6FA0-ACAA-39C0F39C4FA4}"/>
              </a:ext>
            </a:extLst>
          </p:cNvPr>
          <p:cNvSpPr txBox="1"/>
          <p:nvPr/>
        </p:nvSpPr>
        <p:spPr>
          <a:xfrm>
            <a:off x="437655" y="267042"/>
            <a:ext cx="4572000" cy="461665"/>
          </a:xfrm>
          <a:prstGeom prst="rect">
            <a:avLst/>
          </a:prstGeom>
          <a:noFill/>
        </p:spPr>
        <p:txBody>
          <a:bodyPr wrap="square">
            <a:spAutoFit/>
          </a:bodyPr>
          <a:lstStyle/>
          <a:p>
            <a:r>
              <a:rPr lang="en-IN" sz="2400" b="1" dirty="0">
                <a:solidFill>
                  <a:srgbClr val="002060"/>
                </a:solidFill>
              </a:rPr>
              <a:t>Future Perspective</a:t>
            </a:r>
            <a:endParaRPr lang="en-IN" sz="2400" dirty="0"/>
          </a:p>
        </p:txBody>
      </p:sp>
      <p:sp>
        <p:nvSpPr>
          <p:cNvPr id="5" name="TextBox 4">
            <a:extLst>
              <a:ext uri="{FF2B5EF4-FFF2-40B4-BE49-F238E27FC236}">
                <a16:creationId xmlns:a16="http://schemas.microsoft.com/office/drawing/2014/main" id="{23D14F06-9346-AEC2-9BB2-C90A973CB554}"/>
              </a:ext>
            </a:extLst>
          </p:cNvPr>
          <p:cNvSpPr txBox="1"/>
          <p:nvPr/>
        </p:nvSpPr>
        <p:spPr>
          <a:xfrm>
            <a:off x="241171" y="728707"/>
            <a:ext cx="8426735" cy="3903441"/>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b="1" dirty="0"/>
              <a:t>AI and Automation : </a:t>
            </a:r>
            <a:r>
              <a:rPr lang="en-US" dirty="0"/>
              <a:t>AI analyzes sensor data to detect anomalies and trigger automatic safety measures. It predicts potential hazards and controls equipment to prevent accidents.</a:t>
            </a:r>
          </a:p>
          <a:p>
            <a:pPr marL="285750" indent="-285750" algn="just">
              <a:lnSpc>
                <a:spcPct val="200000"/>
              </a:lnSpc>
              <a:buFont typeface="Arial" panose="020B0604020202020204" pitchFamily="34" charset="0"/>
              <a:buChar char="•"/>
            </a:pPr>
            <a:r>
              <a:rPr lang="en-US" b="1" dirty="0"/>
              <a:t>Cloud Storage and Data Analysis : </a:t>
            </a:r>
            <a:r>
              <a:rPr lang="en-US" dirty="0"/>
              <a:t>Sensor data is securely stored in the cloud and accessible anytime. Data is processed in real-time to generate analytical insights and reports.</a:t>
            </a:r>
            <a:endParaRPr lang="en-US" b="1" dirty="0"/>
          </a:p>
          <a:p>
            <a:pPr marL="285750" indent="-285750" algn="just">
              <a:lnSpc>
                <a:spcPct val="200000"/>
              </a:lnSpc>
              <a:buFont typeface="Arial" panose="020B0604020202020204" pitchFamily="34" charset="0"/>
              <a:buChar char="•"/>
            </a:pPr>
            <a:r>
              <a:rPr lang="en-US" b="1" dirty="0"/>
              <a:t>Better Communication and Control(LORA) : </a:t>
            </a:r>
            <a:r>
              <a:rPr lang="en-US" dirty="0"/>
              <a:t>LoRa enables long-range, low-power communication between sensors and the control system. It ensures reliable data transmission and remote-control capabilities.</a:t>
            </a:r>
            <a:endParaRPr lang="en-US" b="1" dirty="0"/>
          </a:p>
          <a:p>
            <a:pPr marL="285750" indent="-285750" algn="just">
              <a:lnSpc>
                <a:spcPct val="200000"/>
              </a:lnSpc>
              <a:buFont typeface="Arial" panose="020B0604020202020204" pitchFamily="34" charset="0"/>
              <a:buChar char="•"/>
            </a:pPr>
            <a:r>
              <a:rPr lang="en-US" b="1" dirty="0"/>
              <a:t>More Sensors and Features </a:t>
            </a:r>
            <a:r>
              <a:rPr lang="en-US" dirty="0"/>
              <a:t>Temperature, methane, carbon monoxide, and pressure sensors monitor critical parameters. These sensors help detect hazardous conditions and ensure safety.</a:t>
            </a:r>
            <a:endParaRPr lang="en-US" b="1" dirty="0"/>
          </a:p>
        </p:txBody>
      </p:sp>
    </p:spTree>
    <p:extLst>
      <p:ext uri="{BB962C8B-B14F-4D97-AF65-F5344CB8AC3E}">
        <p14:creationId xmlns:p14="http://schemas.microsoft.com/office/powerpoint/2010/main" val="1643005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B371653C-5A59-55AF-7592-1B7D2CA0BEA9}"/>
              </a:ext>
            </a:extLst>
          </p:cNvPr>
          <p:cNvSpPr txBox="1"/>
          <p:nvPr/>
        </p:nvSpPr>
        <p:spPr>
          <a:xfrm>
            <a:off x="2599599" y="1730829"/>
            <a:ext cx="3935880" cy="1074148"/>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Autofit/>
          </a:bodyPr>
          <a:lstStyle/>
          <a:p>
            <a:pPr algn="ctr">
              <a:lnSpc>
                <a:spcPct val="90000"/>
              </a:lnSpc>
              <a:spcBef>
                <a:spcPct val="0"/>
              </a:spcBef>
              <a:spcAft>
                <a:spcPts val="600"/>
              </a:spcAft>
            </a:pPr>
            <a:endParaRPr lang="en-US" sz="2000" kern="1200" dirty="0">
              <a:solidFill>
                <a:schemeClr val="tx1"/>
              </a:solidFill>
              <a:latin typeface="+mj-lt"/>
              <a:ea typeface="+mj-ea"/>
              <a:cs typeface="Arial" panose="020B0604020202020204" pitchFamily="34" charset="0"/>
            </a:endParaRPr>
          </a:p>
        </p:txBody>
      </p:sp>
      <p:sp>
        <p:nvSpPr>
          <p:cNvPr id="4" name="Rectangle 2">
            <a:extLst>
              <a:ext uri="{FF2B5EF4-FFF2-40B4-BE49-F238E27FC236}">
                <a16:creationId xmlns:a16="http://schemas.microsoft.com/office/drawing/2014/main" id="{863D8AE6-F8B5-44FC-BF72-535025797987}"/>
              </a:ext>
            </a:extLst>
          </p:cNvPr>
          <p:cNvSpPr/>
          <p:nvPr/>
        </p:nvSpPr>
        <p:spPr>
          <a:xfrm>
            <a:off x="267607" y="4541838"/>
            <a:ext cx="46038" cy="90487"/>
          </a:xfrm>
          <a:prstGeom prst="rect">
            <a:avLst/>
          </a:prstGeom>
          <a:noFill/>
          <a:ln w="9525">
            <a:noFill/>
          </a:ln>
        </p:spPr>
        <p:txBody>
          <a:bodyPr wrap="none" lIns="0" tIns="0" rIns="0" bIns="0"/>
          <a:lstStyle/>
          <a:p>
            <a:pPr eaLnBrk="1" hangingPunct="1">
              <a:buNone/>
            </a:pPr>
            <a:r>
              <a:rPr sz="600" dirty="0">
                <a:latin typeface="Calibri" panose="020F0502020204030204" pitchFamily="34" charset="0"/>
              </a:rPr>
              <a:t>i</a:t>
            </a:r>
          </a:p>
        </p:txBody>
      </p:sp>
      <p:sp>
        <p:nvSpPr>
          <p:cNvPr id="5" name="Rectangle 3">
            <a:extLst>
              <a:ext uri="{FF2B5EF4-FFF2-40B4-BE49-F238E27FC236}">
                <a16:creationId xmlns:a16="http://schemas.microsoft.com/office/drawing/2014/main" id="{7D5CB805-3FCE-4615-9622-E3CFAB50ADD0}"/>
              </a:ext>
            </a:extLst>
          </p:cNvPr>
          <p:cNvSpPr/>
          <p:nvPr/>
        </p:nvSpPr>
        <p:spPr>
          <a:xfrm>
            <a:off x="11715070" y="6457950"/>
            <a:ext cx="128587" cy="134938"/>
          </a:xfrm>
          <a:prstGeom prst="rect">
            <a:avLst/>
          </a:prstGeom>
          <a:noFill/>
          <a:ln w="9525">
            <a:noFill/>
          </a:ln>
        </p:spPr>
        <p:txBody>
          <a:bodyPr wrap="none" lIns="0" tIns="0" rIns="0" bIns="0"/>
          <a:lstStyle/>
          <a:p>
            <a:pPr eaLnBrk="1" hangingPunct="1">
              <a:buNone/>
            </a:pPr>
            <a:r>
              <a:rPr sz="1000" b="1" dirty="0">
                <a:solidFill>
                  <a:srgbClr val="898989"/>
                </a:solidFill>
                <a:latin typeface="Tahoma" panose="020B0604030504040204" pitchFamily="34" charset="0"/>
              </a:rPr>
              <a:t>22</a:t>
            </a:r>
          </a:p>
        </p:txBody>
      </p:sp>
      <p:sp>
        <p:nvSpPr>
          <p:cNvPr id="2" name="TextBox 1">
            <a:extLst>
              <a:ext uri="{FF2B5EF4-FFF2-40B4-BE49-F238E27FC236}">
                <a16:creationId xmlns:a16="http://schemas.microsoft.com/office/drawing/2014/main" id="{82FCFBEC-4EB8-479F-9E4E-1DB49E3D2AE5}"/>
              </a:ext>
            </a:extLst>
          </p:cNvPr>
          <p:cNvSpPr txBox="1"/>
          <p:nvPr/>
        </p:nvSpPr>
        <p:spPr>
          <a:xfrm>
            <a:off x="1706336" y="2065564"/>
            <a:ext cx="5927271" cy="461665"/>
          </a:xfrm>
          <a:prstGeom prst="rect">
            <a:avLst/>
          </a:prstGeom>
          <a:noFill/>
        </p:spPr>
        <p:txBody>
          <a:bodyPr wrap="square" rtlCol="0">
            <a:spAutoFit/>
          </a:bodyPr>
          <a:lstStyle/>
          <a:p>
            <a:pPr algn="ctr"/>
            <a:r>
              <a:rPr lang="en-US" sz="2400" dirty="0"/>
              <a:t>Thank You…!</a:t>
            </a:r>
            <a:endParaRPr lang="en-IN" sz="2400" dirty="0"/>
          </a:p>
        </p:txBody>
      </p:sp>
    </p:spTree>
    <p:extLst>
      <p:ext uri="{BB962C8B-B14F-4D97-AF65-F5344CB8AC3E}">
        <p14:creationId xmlns:p14="http://schemas.microsoft.com/office/powerpoint/2010/main" val="325770188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6559A34-456E-49A1-8157-9E3D18BFAD36}">
  <ds:schemaRefs>
    <ds:schemaRef ds:uri="http://purl.org/dc/dcmitype/"/>
    <ds:schemaRef ds:uri="http://schemas.openxmlformats.org/package/2006/metadata/core-properties"/>
    <ds:schemaRef ds:uri="http://www.w3.org/XML/1998/namespace"/>
    <ds:schemaRef ds:uri="http://schemas.microsoft.com/office/2006/documentManagement/types"/>
    <ds:schemaRef ds:uri="http://purl.org/dc/terms/"/>
    <ds:schemaRef ds:uri="http://purl.org/dc/elements/1.1/"/>
    <ds:schemaRef ds:uri="c0fa2617-96bd-425d-8578-e93563fe37c5"/>
    <ds:schemaRef ds:uri="http://schemas.microsoft.com/office/infopath/2007/PartnerControls"/>
    <ds:schemaRef ds:uri="9162bd5b-4ed9-4da3-b376-05204580ba3f"/>
    <ds:schemaRef ds:uri="http://schemas.microsoft.com/office/2006/metadata/properties"/>
  </ds:schemaRefs>
</ds:datastoreItem>
</file>

<file path=customXml/itemProps3.xml><?xml version="1.0" encoding="utf-8"?>
<ds:datastoreItem xmlns:ds="http://schemas.openxmlformats.org/officeDocument/2006/customXml" ds:itemID="{3706AB80-2608-47D7-8AC8-FA6BC8A9B2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1135</TotalTime>
  <Words>686</Words>
  <Application>Microsoft Office PowerPoint</Application>
  <PresentationFormat>On-screen Show (16:9)</PresentationFormat>
  <Paragraphs>99</Paragraphs>
  <Slides>15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Canva Sans</vt:lpstr>
      <vt:lpstr>Tahoma</vt:lpstr>
      <vt:lpstr>Times New Roman</vt:lpstr>
      <vt:lpstr>Simple Light</vt:lpstr>
      <vt:lpstr>PowerPoint Presentation</vt:lpstr>
      <vt:lpstr>Project Objectives</vt:lpstr>
      <vt:lpstr>Problem Statement</vt:lpstr>
      <vt:lpstr>PowerPoint Presentation</vt:lpstr>
      <vt:lpstr>Project overview - Introduction</vt:lpstr>
      <vt:lpstr>PowerPoint Presentation</vt:lpstr>
      <vt:lpstr>End User</vt:lpstr>
      <vt:lpstr>Wow Factor in Solution</vt:lpstr>
      <vt:lpstr>PowerPoint Presentation</vt:lpstr>
      <vt:lpstr>Circuit Model</vt:lpstr>
      <vt:lpstr>Result</vt:lpstr>
      <vt:lpstr>PowerPoint Presentation</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Sumit Sunil Saratale</cp:lastModifiedBy>
  <cp:revision>64</cp:revision>
  <dcterms:modified xsi:type="dcterms:W3CDTF">2025-03-18T08:11:48Z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